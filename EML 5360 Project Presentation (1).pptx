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4"/>
  </p:sldMasterIdLst>
  <p:notesMasterIdLst>
    <p:notesMasterId r:id="rId27"/>
  </p:notesMasterIdLst>
  <p:sldIdLst>
    <p:sldId id="674" r:id="rId5"/>
    <p:sldId id="670" r:id="rId6"/>
    <p:sldId id="675" r:id="rId7"/>
    <p:sldId id="676" r:id="rId8"/>
    <p:sldId id="691" r:id="rId9"/>
    <p:sldId id="258" r:id="rId10"/>
    <p:sldId id="679" r:id="rId11"/>
    <p:sldId id="265" r:id="rId12"/>
    <p:sldId id="260" r:id="rId13"/>
    <p:sldId id="261" r:id="rId14"/>
    <p:sldId id="262" r:id="rId15"/>
    <p:sldId id="695" r:id="rId16"/>
    <p:sldId id="257" r:id="rId17"/>
    <p:sldId id="666" r:id="rId18"/>
    <p:sldId id="667" r:id="rId19"/>
    <p:sldId id="625" r:id="rId20"/>
    <p:sldId id="668" r:id="rId21"/>
    <p:sldId id="687" r:id="rId22"/>
    <p:sldId id="657" r:id="rId23"/>
    <p:sldId id="685" r:id="rId24"/>
    <p:sldId id="686" r:id="rId25"/>
    <p:sldId id="68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853416-3AE3-A426-DA8C-C0B72AF1D2AF}" name="Chien Hsuan Chen" initials="CC" userId="S::ch052958@ucf.edu::fd5bff7f-fcd1-4328-a136-8b5f5ca7dd34" providerId="AD"/>
  <p188:author id="{7A52D683-8BF0-4E2D-CD12-6AD597EE4A01}" name="Dylan Colvin" initials="DC" userId="S::dy945860@ucf.edu::3bbcee57-2753-456f-b5a4-60465434bf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150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B07CA-6C20-19DC-407A-62591C2CA83E}" v="1" dt="2026-04-24T11:51:33.115"/>
    <p1510:client id="{104245D4-E921-6533-AC16-0DC68E235DC9}" v="91" dt="2026-04-23T22:29:18.732"/>
    <p1510:client id="{454BC7E3-C3EF-9E1F-E295-B458AB233A07}" v="91" dt="2026-04-24T05:29:05.408"/>
    <p1510:client id="{4900525E-57C7-61A4-5C5B-541936AACAF3}" v="47" dt="2026-04-24T05:21:33.089"/>
    <p1510:client id="{4D879276-28FF-4A53-AEF7-942EBC1CA433}" v="423" dt="2026-04-24T13:31:05.108"/>
    <p1510:client id="{604D6D2A-D19D-5743-9EEB-8875952075ED}" v="124" dt="2026-04-24T13:27:25.712"/>
    <p1510:client id="{66E599E5-2E50-6546-4C45-C9DB2FA08D16}" v="1" dt="2026-04-24T02:08:49.402"/>
    <p1510:client id="{7739543C-C813-4531-B900-D07D60160FC2}" v="93" dt="2026-04-23T19:22:47.340"/>
    <p1510:client id="{F1363348-7A60-E59E-7697-8C2EEF8E3A49}" v="21" dt="2026-04-24T13:51:46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D8-C98C-C140-8152-103DCBFA6CF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3571E-DE10-9443-B48E-68D6A6280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89881"/>
            <a:ext cx="9144000" cy="939625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54514"/>
            <a:ext cx="9144000" cy="232548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17497436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3" b="33683"/>
          <a:stretch/>
        </p:blipFill>
        <p:spPr>
          <a:xfrm>
            <a:off x="1328736" y="484844"/>
            <a:ext cx="2429560" cy="103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2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1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 userDrawn="1"/>
        </p:nvCxnSpPr>
        <p:spPr>
          <a:xfrm>
            <a:off x="838200" y="966356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53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8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9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2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1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2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7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6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20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_No Rays">
  <p:cSld name="6_Title and Content_No Ray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5752" y="235502"/>
            <a:ext cx="2006648" cy="44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609600" y="14989"/>
            <a:ext cx="10972800" cy="88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8F26"/>
              </a:buClr>
              <a:buSzPts val="2800"/>
              <a:buFont typeface="Calibri"/>
              <a:buNone/>
              <a:defRPr sz="3733" b="1" i="0" u="none" strike="noStrike" cap="none">
                <a:solidFill>
                  <a:srgbClr val="F38F26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6" name="Google Shape;26;p7"/>
          <p:cNvCxnSpPr/>
          <p:nvPr/>
        </p:nvCxnSpPr>
        <p:spPr>
          <a:xfrm>
            <a:off x="609599" y="898479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F38F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609600" y="1128713"/>
            <a:ext cx="10972800" cy="4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524920" algn="l" rtl="0">
              <a:lnSpc>
                <a:spcPct val="100000"/>
              </a:lnSpc>
              <a:spcBef>
                <a:spcPts val="693"/>
              </a:spcBef>
              <a:spcAft>
                <a:spcPts val="0"/>
              </a:spcAft>
              <a:buClr>
                <a:srgbClr val="F38F26"/>
              </a:buClr>
              <a:buSzPts val="2600"/>
              <a:buFont typeface="Arial"/>
              <a:buChar char="•"/>
              <a:defRPr sz="34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507987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91054" algn="l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rgbClr val="F38F26"/>
              </a:buClr>
              <a:buSzPts val="2200"/>
              <a:buFont typeface="Arial"/>
              <a:buChar char="•"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38F26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38F26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7412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7412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7412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/>
          <p:nvPr/>
        </p:nvSpPr>
        <p:spPr>
          <a:xfrm>
            <a:off x="10790073" y="361"/>
            <a:ext cx="868187" cy="266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Funded by:</a:t>
            </a:r>
            <a:endParaRPr sz="17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4085" y="6139250"/>
            <a:ext cx="679208" cy="733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45818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1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1827"/>
            <a:ext cx="10515600" cy="506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2224" y="62543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16240-DAFD-6E4F-A14C-BEA7DF7B00E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3289B-ABDF-C042-8C55-82ED45B51360}"/>
              </a:ext>
            </a:extLst>
          </p:cNvPr>
          <p:cNvSpPr/>
          <p:nvPr userDrawn="1"/>
        </p:nvSpPr>
        <p:spPr>
          <a:xfrm>
            <a:off x="0" y="6567986"/>
            <a:ext cx="12192000" cy="290014"/>
          </a:xfrm>
          <a:prstGeom prst="rect">
            <a:avLst/>
          </a:prstGeom>
          <a:solidFill>
            <a:srgbClr val="FFC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0B8B1-A278-4D4C-843E-160314FC744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960" y="6087031"/>
            <a:ext cx="571343" cy="77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9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5.png"/><Relationship Id="rId2" Type="http://schemas.openxmlformats.org/officeDocument/2006/relationships/image" Target="../media/image16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3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4BCE4-2AED-7505-E2FE-7DD8983BDC7D}"/>
              </a:ext>
            </a:extLst>
          </p:cNvPr>
          <p:cNvSpPr txBox="1"/>
          <p:nvPr/>
        </p:nvSpPr>
        <p:spPr>
          <a:xfrm>
            <a:off x="2453582" y="610143"/>
            <a:ext cx="7009739" cy="5606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3643">
                <a:solidFill>
                  <a:srgbClr val="000000"/>
                </a:solidFill>
                <a:latin typeface="Franklin Gothic Demi"/>
              </a:rPr>
              <a:t>Physics-Informed Neural Networks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6BFDA8-10C7-0E68-F816-6E1FD78689FB}"/>
              </a:ext>
            </a:extLst>
          </p:cNvPr>
          <p:cNvSpPr txBox="1"/>
          <p:nvPr/>
        </p:nvSpPr>
        <p:spPr>
          <a:xfrm>
            <a:off x="3259124" y="1639410"/>
            <a:ext cx="5465150" cy="5606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3643">
                <a:solidFill>
                  <a:srgbClr val="000000"/>
                </a:solidFill>
                <a:latin typeface="Franklin Gothic Demi"/>
              </a:rPr>
              <a:t>for Additive Manufacturing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177AE-CDFE-5F29-F080-59AC0933F81F}"/>
              </a:ext>
            </a:extLst>
          </p:cNvPr>
          <p:cNvSpPr txBox="1"/>
          <p:nvPr/>
        </p:nvSpPr>
        <p:spPr>
          <a:xfrm>
            <a:off x="2453582" y="2668677"/>
            <a:ext cx="7076233" cy="3892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529">
                <a:solidFill>
                  <a:srgbClr val="595959"/>
                </a:solidFill>
                <a:latin typeface="Franklin Gothic Book"/>
              </a:rPr>
              <a:t>1D Stefan Problem — Phase Change &amp; Solidification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1FF51-0427-3380-FB30-74A835D943CB}"/>
              </a:ext>
            </a:extLst>
          </p:cNvPr>
          <p:cNvSpPr txBox="1"/>
          <p:nvPr/>
        </p:nvSpPr>
        <p:spPr>
          <a:xfrm>
            <a:off x="3097841" y="3817310"/>
            <a:ext cx="530318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AF7B51"/>
                </a:solidFill>
              </a:rPr>
              <a:t>• </a:t>
            </a:r>
            <a:r>
              <a:rPr sz="2108">
                <a:solidFill>
                  <a:srgbClr val="AF7B51"/>
                </a:solidFill>
                <a:latin typeface="Franklin Gothic Book"/>
              </a:rPr>
              <a:t>Goutam Kumar Biswas</a:t>
            </a:r>
            <a:r>
              <a:rPr lang="en-US" sz="2108">
                <a:solidFill>
                  <a:srgbClr val="AF7B51"/>
                </a:solidFill>
                <a:latin typeface="Franklin Gothic Book"/>
              </a:rPr>
              <a:t> </a:t>
            </a:r>
            <a:r>
              <a:rPr lang="en-US" sz="2400">
                <a:solidFill>
                  <a:srgbClr val="AF7B51"/>
                </a:solidFill>
              </a:rPr>
              <a:t>• </a:t>
            </a:r>
            <a:r>
              <a:rPr lang="en-US" sz="2108">
                <a:solidFill>
                  <a:srgbClr val="AF7B51"/>
                </a:solidFill>
              </a:rPr>
              <a:t>Maddox Gonzalez </a:t>
            </a:r>
            <a:endParaRPr sz="2108">
              <a:solidFill>
                <a:srgbClr val="AF7B51"/>
              </a:solidFill>
              <a:latin typeface="Franklin Gothic Book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806B1-7A72-DE00-E783-04650E2B7C1C}"/>
              </a:ext>
            </a:extLst>
          </p:cNvPr>
          <p:cNvSpPr txBox="1"/>
          <p:nvPr/>
        </p:nvSpPr>
        <p:spPr>
          <a:xfrm>
            <a:off x="3966634" y="4646920"/>
            <a:ext cx="3573030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sz="2108">
                <a:solidFill>
                  <a:srgbClr val="666666"/>
                </a:solidFill>
                <a:latin typeface="Franklin Gothic Book"/>
              </a:rPr>
              <a:t>EML 5360</a:t>
            </a:r>
            <a:r>
              <a:rPr lang="en-US" sz="2108">
                <a:solidFill>
                  <a:srgbClr val="666666"/>
                </a:solidFill>
                <a:latin typeface="Franklin Gothic Book"/>
              </a:rPr>
              <a:t> Project presentation</a:t>
            </a:r>
            <a:endParaRPr sz="2108">
              <a:solidFill>
                <a:srgbClr val="666666"/>
              </a:solidFill>
              <a:latin typeface="Franklin Gothic Boo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D09E38-C41F-D230-4B00-EFF73C3F6D22}"/>
              </a:ext>
            </a:extLst>
          </p:cNvPr>
          <p:cNvSpPr txBox="1"/>
          <p:nvPr/>
        </p:nvSpPr>
        <p:spPr>
          <a:xfrm>
            <a:off x="2218505" y="5484674"/>
            <a:ext cx="1025922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8C8C8C"/>
                </a:solidFill>
                <a:latin typeface="Franklin Gothic Book"/>
              </a:rPr>
              <a:t>Based on: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3C9AB4-C0D0-8568-B498-FE52CE79FA31}"/>
              </a:ext>
            </a:extLst>
          </p:cNvPr>
          <p:cNvSpPr txBox="1"/>
          <p:nvPr/>
        </p:nvSpPr>
        <p:spPr>
          <a:xfrm>
            <a:off x="3315652" y="5484674"/>
            <a:ext cx="2298001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8C8C8C"/>
                </a:solidFill>
                <a:latin typeface="Franklin Gothic Book"/>
              </a:rPr>
              <a:t>Zhu, Liu &amp; Yan (2021),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235F3B-20A4-55C1-AD6A-E6FB84F3F8BD}"/>
              </a:ext>
            </a:extLst>
          </p:cNvPr>
          <p:cNvSpPr txBox="1"/>
          <p:nvPr/>
        </p:nvSpPr>
        <p:spPr>
          <a:xfrm>
            <a:off x="5592859" y="5484674"/>
            <a:ext cx="2745432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 i="1">
                <a:solidFill>
                  <a:srgbClr val="8C8C8C"/>
                </a:solidFill>
                <a:latin typeface="Franklin Gothic Book"/>
              </a:rPr>
              <a:t> Computational Mechanics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9ECC0-3899-CD3E-9FF7-83D4ED5AC85B}"/>
              </a:ext>
            </a:extLst>
          </p:cNvPr>
          <p:cNvSpPr txBox="1"/>
          <p:nvPr/>
        </p:nvSpPr>
        <p:spPr>
          <a:xfrm>
            <a:off x="8311805" y="5484674"/>
            <a:ext cx="1680075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8C8C8C"/>
                </a:solidFill>
                <a:latin typeface="Franklin Gothic Book"/>
              </a:rPr>
              <a:t> 67(2):619–635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AEB54-A2A3-866F-C89D-BD04CE71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CEF3-91D6-F49C-245C-984EF8E6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52426"/>
            <a:ext cx="11224846" cy="601230"/>
          </a:xfrm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Franklin Gothic Medium (Headings)"/>
              </a:rP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90424-FE2B-F2A0-DCDE-8030DDB8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BE9C1-8BC6-04A1-A65D-3323A25B4D8B}"/>
              </a:ext>
            </a:extLst>
          </p:cNvPr>
          <p:cNvSpPr txBox="1"/>
          <p:nvPr/>
        </p:nvSpPr>
        <p:spPr>
          <a:xfrm>
            <a:off x="731520" y="1280160"/>
            <a:ext cx="10789920" cy="138845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>
                <a:latin typeface="+mj-lt"/>
              </a:rPr>
              <a:t>Applications include</a:t>
            </a:r>
          </a:p>
          <a:p>
            <a:pPr marL="285750" indent="-285750">
              <a:lnSpc>
                <a:spcPct val="125000"/>
              </a:lnSpc>
              <a:buFont typeface="Calibri"/>
              <a:buChar char="-"/>
            </a:pPr>
            <a:r>
              <a:rPr lang="en-US">
                <a:latin typeface="+mj-lt"/>
              </a:rPr>
              <a:t>Aerospace</a:t>
            </a:r>
          </a:p>
          <a:p>
            <a:pPr marL="285750" indent="-285750">
              <a:lnSpc>
                <a:spcPct val="125000"/>
              </a:lnSpc>
              <a:buFont typeface="Calibri"/>
              <a:buChar char="-"/>
            </a:pPr>
            <a:r>
              <a:rPr lang="en-US">
                <a:latin typeface="+mj-lt"/>
              </a:rPr>
              <a:t>Medical Implants</a:t>
            </a:r>
          </a:p>
          <a:p>
            <a:pPr marL="285750" indent="-285750">
              <a:lnSpc>
                <a:spcPct val="125000"/>
              </a:lnSpc>
              <a:buFont typeface="Calibri"/>
              <a:buChar char="-"/>
            </a:pPr>
            <a:r>
              <a:rPr lang="en-US">
                <a:latin typeface="+mj-lt"/>
              </a:rPr>
              <a:t>Automotive Industry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D36903-633E-9441-FEC2-E908911CA218}"/>
              </a:ext>
            </a:extLst>
          </p:cNvPr>
          <p:cNvSpPr txBox="1"/>
          <p:nvPr/>
        </p:nvSpPr>
        <p:spPr>
          <a:xfrm>
            <a:off x="561975" y="3517582"/>
            <a:ext cx="107899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1" i="0">
                <a:solidFill>
                  <a:srgbClr val="000000"/>
                </a:solidFill>
                <a:latin typeface="+mj-lt"/>
              </a:rPr>
              <a:t>Why this matters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2CC46-935E-9CC9-E382-1C05320714AC}"/>
              </a:ext>
            </a:extLst>
          </p:cNvPr>
          <p:cNvSpPr txBox="1"/>
          <p:nvPr/>
        </p:nvSpPr>
        <p:spPr>
          <a:xfrm>
            <a:off x="481744" y="4192172"/>
            <a:ext cx="5860733" cy="16989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+mj-lt"/>
              </a:rPr>
              <a:t>Enables complex shapes &amp; geometries</a:t>
            </a:r>
            <a:endParaRPr lang="en-US" b="0" i="0">
              <a:solidFill>
                <a:srgbClr val="2D2D2D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2D2D2D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+mj-lt"/>
              </a:rPr>
              <a:t>Supports rapid prototyping</a:t>
            </a:r>
            <a:endParaRPr lang="en-US" b="0" i="0">
              <a:solidFill>
                <a:srgbClr val="2D2D2D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2D2D2D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+mj-lt"/>
              </a:rPr>
              <a:t>Reduces material waste compared to subtractive manufacturing, and other manufacturing processes</a:t>
            </a:r>
            <a:endParaRPr b="0" i="0">
              <a:solidFill>
                <a:srgbClr val="2D2D2D"/>
              </a:solidFill>
              <a:latin typeface="+mj-lt"/>
            </a:endParaRPr>
          </a:p>
        </p:txBody>
      </p:sp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A05EBF58-1120-9F61-2100-1A6B86D0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813" y="1714500"/>
            <a:ext cx="5614987" cy="31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6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7D3-B522-745A-7224-FA60F56E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2933-85DA-24CF-D29E-7BC325CA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224846" cy="601230"/>
          </a:xfrm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Franklin Gothic Medium (Headings)"/>
              </a:rPr>
              <a:t>Research Gap and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D775A-316B-5410-76C6-BAEB221BE98D}"/>
              </a:ext>
            </a:extLst>
          </p:cNvPr>
          <p:cNvSpPr txBox="1"/>
          <p:nvPr/>
        </p:nvSpPr>
        <p:spPr>
          <a:xfrm>
            <a:off x="838200" y="1145703"/>
            <a:ext cx="10789920" cy="3497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i="0">
                <a:latin typeface="+mj-lt"/>
              </a:rPr>
              <a:t>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FED1A-BEB8-AE4D-55C1-2C5672F18A96}"/>
              </a:ext>
            </a:extLst>
          </p:cNvPr>
          <p:cNvSpPr txBox="1"/>
          <p:nvPr/>
        </p:nvSpPr>
        <p:spPr>
          <a:xfrm>
            <a:off x="701040" y="3429000"/>
            <a:ext cx="107899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b="1" i="0">
                <a:solidFill>
                  <a:srgbClr val="000000"/>
                </a:solidFill>
                <a:latin typeface="+mj-lt"/>
              </a:rPr>
              <a:t>Research Questions</a:t>
            </a:r>
            <a:endParaRPr b="1" i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CFD8D-6042-1301-1D2E-C2EA57CB12A2}"/>
              </a:ext>
            </a:extLst>
          </p:cNvPr>
          <p:cNvSpPr txBox="1"/>
          <p:nvPr/>
        </p:nvSpPr>
        <p:spPr>
          <a:xfrm>
            <a:off x="1055663" y="1602977"/>
            <a:ext cx="10789920" cy="139461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5000"/>
              </a:lnSpc>
            </a:pPr>
            <a:r>
              <a:rPr b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▪  </a:t>
            </a:r>
            <a:r>
              <a:rPr>
                <a:solidFill>
                  <a:srgbClr val="2D2D2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Most PINN literature handles smooth PDEs — phase change introduces a discontinuous source term that is poorly conditioned.</a:t>
            </a:r>
          </a:p>
          <a:p>
            <a:pPr>
              <a:lnSpc>
                <a:spcPct val="125000"/>
              </a:lnSpc>
            </a:pPr>
            <a:r>
              <a:rPr b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▪  </a:t>
            </a:r>
            <a:r>
              <a:rPr>
                <a:solidFill>
                  <a:srgbClr val="2D2D2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Published PINN-AM studies rarely report implementation details or failure modes; reproducibility is limited.</a:t>
            </a:r>
          </a:p>
          <a:p>
            <a:pPr>
              <a:lnSpc>
                <a:spcPct val="125000"/>
              </a:lnSpc>
            </a:pPr>
            <a:r>
              <a:rPr b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▪  </a:t>
            </a:r>
            <a:r>
              <a:rPr>
                <a:solidFill>
                  <a:srgbClr val="2D2D2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trade-off between hard- and soft-BC enforcement is not systematically compared on the same problem.</a:t>
            </a:r>
            <a:endParaRPr lang="en-US">
              <a:solidFill>
                <a:srgbClr val="2D2D2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57F00-FCB0-11FC-B2CB-6550F61D9AFE}"/>
              </a:ext>
            </a:extLst>
          </p:cNvPr>
          <p:cNvSpPr txBox="1"/>
          <p:nvPr/>
        </p:nvSpPr>
        <p:spPr>
          <a:xfrm>
            <a:off x="1055663" y="3888968"/>
            <a:ext cx="10789920" cy="1042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5000"/>
              </a:lnSpc>
            </a:pPr>
            <a:r>
              <a:rPr b="1">
                <a:solidFill>
                  <a:srgbClr val="000000"/>
                </a:solidFill>
              </a:rPr>
              <a:t>▪  </a:t>
            </a:r>
            <a:r>
              <a:rPr b="1" i="0">
                <a:solidFill>
                  <a:srgbClr val="2D2D2D"/>
                </a:solidFill>
              </a:rPr>
              <a:t>Q1. </a:t>
            </a:r>
            <a:r>
              <a:rPr b="0" i="0">
                <a:solidFill>
                  <a:srgbClr val="2D2D2D"/>
                </a:solidFill>
              </a:rPr>
              <a:t>Can a PINN reproduce a 1D Stefan AM solidification problem to FEM-level accuracy?</a:t>
            </a:r>
          </a:p>
          <a:p>
            <a:pPr>
              <a:lnSpc>
                <a:spcPct val="125000"/>
              </a:lnSpc>
            </a:pPr>
            <a:r>
              <a:rPr b="1">
                <a:solidFill>
                  <a:srgbClr val="000000"/>
                </a:solidFill>
              </a:rPr>
              <a:t>▪  </a:t>
            </a:r>
            <a:r>
              <a:rPr b="1" i="0">
                <a:solidFill>
                  <a:srgbClr val="2D2D2D"/>
                </a:solidFill>
              </a:rPr>
              <a:t>Q2. </a:t>
            </a:r>
            <a:r>
              <a:rPr b="0" i="0">
                <a:solidFill>
                  <a:srgbClr val="2D2D2D"/>
                </a:solidFill>
              </a:rPr>
              <a:t>Does hard-BC enforcement outperform soft-BC penalties in convergence and final loss?</a:t>
            </a:r>
          </a:p>
          <a:p>
            <a:pPr>
              <a:lnSpc>
                <a:spcPct val="125000"/>
              </a:lnSpc>
            </a:pPr>
            <a:endParaRPr lang="en-US" b="0" i="0">
              <a:solidFill>
                <a:srgbClr val="2D2D2D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37FB3CC-485D-599A-7A77-9CCEA625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4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9E48-B911-371E-7335-655AE036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23A1-9B45-AA2F-6756-F823214D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224846" cy="601230"/>
          </a:xfrm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Franklin Gothic Medium (Headings)"/>
              </a:rPr>
              <a:t>Project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1FCD5-67CA-CCEF-C420-60A3B706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318E2-8E14-9C3D-BF65-919DEBACBFA9}"/>
              </a:ext>
            </a:extLst>
          </p:cNvPr>
          <p:cNvSpPr/>
          <p:nvPr/>
        </p:nvSpPr>
        <p:spPr>
          <a:xfrm>
            <a:off x="701040" y="1410760"/>
            <a:ext cx="10789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D1FC5-4275-9BF5-7601-A630BCD58E64}"/>
              </a:ext>
            </a:extLst>
          </p:cNvPr>
          <p:cNvSpPr txBox="1"/>
          <p:nvPr/>
        </p:nvSpPr>
        <p:spPr>
          <a:xfrm>
            <a:off x="914400" y="1669155"/>
            <a:ext cx="10424160" cy="86793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b="0" i="1">
                <a:solidFill>
                  <a:srgbClr val="000000"/>
                </a:solidFill>
                <a:latin typeface="+mj-lt"/>
              </a:rPr>
              <a:t>Reproduce</a:t>
            </a:r>
            <a:r>
              <a:rPr lang="en-US" b="0" i="1">
                <a:solidFill>
                  <a:srgbClr val="000000"/>
                </a:solidFill>
                <a:latin typeface="+mj-lt"/>
              </a:rPr>
              <a:t>d</a:t>
            </a:r>
            <a:r>
              <a:rPr b="0" i="1">
                <a:solidFill>
                  <a:srgbClr val="000000"/>
                </a:solidFill>
                <a:latin typeface="+mj-lt"/>
              </a:rPr>
              <a:t> the Zhu–Liu–Yan (2021) PINN framework on a 1D Stefan solidification problem, compare hard- vs soft-boundary enforcement, and benchmark the trained PINN against FEM across four mesh resolutions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C9FA30-E1E8-85A1-975E-87AE7D1610EF}"/>
              </a:ext>
            </a:extLst>
          </p:cNvPr>
          <p:cNvSpPr/>
          <p:nvPr/>
        </p:nvSpPr>
        <p:spPr>
          <a:xfrm>
            <a:off x="701040" y="3879965"/>
            <a:ext cx="10789920" cy="12953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C5BD14-4744-5BCD-89B4-9E180ECC3F88}"/>
                  </a:ext>
                </a:extLst>
              </p:cNvPr>
              <p:cNvSpPr txBox="1"/>
              <p:nvPr/>
            </p:nvSpPr>
            <p:spPr>
              <a:xfrm>
                <a:off x="914400" y="3879965"/>
                <a:ext cx="10789920" cy="11537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>
                <a:spAutoFit/>
              </a:bodyPr>
              <a:lstStyle/>
              <a:p>
                <a:pPr marL="342900" indent="-34290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>
                    <a:solidFill>
                      <a:srgbClr val="2D2D2D"/>
                    </a:solidFill>
                  </a:rPr>
                  <a:t>I</a:t>
                </a:r>
                <a:r>
                  <a:rPr lang="en-US" sz="2000">
                    <a:solidFill>
                      <a:srgbClr val="2D2D2D"/>
                    </a:solidFill>
                  </a:rPr>
                  <a:t>mplementation  of PINN using </a:t>
                </a:r>
                <a:r>
                  <a:rPr lang="en-US" sz="2000" err="1">
                    <a:solidFill>
                      <a:srgbClr val="2D2D2D"/>
                    </a:solidFill>
                  </a:rPr>
                  <a:t>PyTorch</a:t>
                </a:r>
                <a:r>
                  <a:rPr lang="en-US" sz="2000">
                    <a:solidFill>
                      <a:srgbClr val="2D2D2D"/>
                    </a:solidFill>
                  </a:rPr>
                  <a:t>.</a:t>
                </a:r>
              </a:p>
              <a:p>
                <a:pPr marL="342900" indent="-34290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2D2D2D"/>
                    </a:solidFill>
                  </a:rPr>
                  <a:t>FEM reference solver at four resolutions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00" i="1" dirty="0" smtClean="0">
                            <a:solidFill>
                              <a:srgbClr val="2D2D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 dirty="0" smtClean="0">
                            <a:solidFill>
                              <a:srgbClr val="2D2D2D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2000" i="1" dirty="0" smtClean="0">
                            <a:solidFill>
                              <a:srgbClr val="2D2D2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sz="2000" i="1" dirty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sz="2000" b="0" i="0" dirty="0" smtClean="0">
                        <a:solidFill>
                          <a:srgbClr val="2D2D2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>
                  <a:solidFill>
                    <a:srgbClr val="000000"/>
                  </a:solidFill>
                </a:endParaRPr>
              </a:p>
              <a:p>
                <a:pPr marL="342900" indent="-34290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>
                    <a:solidFill>
                      <a:srgbClr val="2D2D2D"/>
                    </a:solidFill>
                  </a:rPr>
                  <a:t>Quantitative comparison</a:t>
                </a:r>
                <a:r>
                  <a:rPr lang="en-US" sz="2000">
                    <a:solidFill>
                      <a:srgbClr val="2D2D2D"/>
                    </a:solidFill>
                  </a:rPr>
                  <a:t>: training loss, temperature snapshots, interface tracking, L₂ error.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C5BD14-4744-5BCD-89B4-9E180ECC3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79965"/>
                <a:ext cx="10789920" cy="1153777"/>
              </a:xfrm>
              <a:prstGeom prst="rect">
                <a:avLst/>
              </a:prstGeom>
              <a:blipFill>
                <a:blip r:embed="rId2"/>
                <a:stretch>
                  <a:fillRect l="-904" t="-1579" b="-1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322388-0E88-2600-E081-9A2ECA7E97C1}"/>
                  </a:ext>
                </a:extLst>
              </p:cNvPr>
              <p:cNvSpPr/>
              <p:nvPr/>
            </p:nvSpPr>
            <p:spPr>
              <a:xfrm>
                <a:off x="3341310" y="2826166"/>
                <a:ext cx="4299206" cy="91855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FCA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322388-0E88-2600-E081-9A2ECA7E9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310" y="2826166"/>
                <a:ext cx="4299206" cy="918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FFCA29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42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F261-D139-F18E-AE04-22B874BD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CDFD-A343-7871-9DC4-A6EF7D53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58" y="384576"/>
            <a:ext cx="11224846" cy="601230"/>
          </a:xfrm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Franklin Gothic Medium (Headings)"/>
              </a:rPr>
              <a:t>Related Work — PINNs and AM Thermal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E16C3-A0C4-139F-F6F5-382D4284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4</a:t>
            </a:fld>
            <a:endParaRPr lang="en-US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06B6C51-D0C1-2030-72E9-870EEE87B19D}"/>
              </a:ext>
            </a:extLst>
          </p:cNvPr>
          <p:cNvCxnSpPr/>
          <p:nvPr/>
        </p:nvCxnSpPr>
        <p:spPr>
          <a:xfrm>
            <a:off x="677505" y="1389045"/>
            <a:ext cx="10810198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CB29BC6-D145-A6EE-9645-F4DBC5DF38D9}"/>
              </a:ext>
            </a:extLst>
          </p:cNvPr>
          <p:cNvCxnSpPr/>
          <p:nvPr/>
        </p:nvCxnSpPr>
        <p:spPr>
          <a:xfrm>
            <a:off x="643730" y="1812456"/>
            <a:ext cx="10810198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023A11A-B507-EDEA-3BA3-F3CFAA8A61F6}"/>
              </a:ext>
            </a:extLst>
          </p:cNvPr>
          <p:cNvCxnSpPr/>
          <p:nvPr/>
        </p:nvCxnSpPr>
        <p:spPr>
          <a:xfrm>
            <a:off x="677505" y="4325062"/>
            <a:ext cx="10810198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C08177-F138-6BBC-16C5-5EE7FFFBDB8C}"/>
              </a:ext>
            </a:extLst>
          </p:cNvPr>
          <p:cNvSpPr txBox="1"/>
          <p:nvPr/>
        </p:nvSpPr>
        <p:spPr>
          <a:xfrm>
            <a:off x="838202" y="1493712"/>
            <a:ext cx="57547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7B620-0D92-D506-25FF-4DAE5EA8F8AB}"/>
              </a:ext>
            </a:extLst>
          </p:cNvPr>
          <p:cNvSpPr txBox="1"/>
          <p:nvPr/>
        </p:nvSpPr>
        <p:spPr>
          <a:xfrm>
            <a:off x="3521535" y="1493712"/>
            <a:ext cx="1283365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Contribution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17E7C-B05E-2F51-5B41-254327CA417F}"/>
              </a:ext>
            </a:extLst>
          </p:cNvPr>
          <p:cNvSpPr txBox="1"/>
          <p:nvPr/>
        </p:nvSpPr>
        <p:spPr>
          <a:xfrm>
            <a:off x="6433602" y="1493712"/>
            <a:ext cx="1407437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Domain / PDE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5C072-B402-D5D3-1C4F-47A96A2690F9}"/>
              </a:ext>
            </a:extLst>
          </p:cNvPr>
          <p:cNvSpPr txBox="1"/>
          <p:nvPr/>
        </p:nvSpPr>
        <p:spPr>
          <a:xfrm>
            <a:off x="9193823" y="1493712"/>
            <a:ext cx="1971758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Reported limitation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26782-9EFD-1D57-9627-EB34FC6CDF41}"/>
              </a:ext>
            </a:extLst>
          </p:cNvPr>
          <p:cNvSpPr txBox="1"/>
          <p:nvPr/>
        </p:nvSpPr>
        <p:spPr>
          <a:xfrm>
            <a:off x="838200" y="1926658"/>
            <a:ext cx="1789272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dirty="0">
                <a:solidFill>
                  <a:srgbClr val="000000"/>
                </a:solidFill>
                <a:latin typeface="Latin Modern Sans"/>
              </a:rPr>
              <a:t>Raissi et al. (2019)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002CE-81B2-BD47-2846-D6261AAE93CC}"/>
              </a:ext>
            </a:extLst>
          </p:cNvPr>
          <p:cNvSpPr txBox="1"/>
          <p:nvPr/>
        </p:nvSpPr>
        <p:spPr>
          <a:xfrm>
            <a:off x="3522017" y="1926658"/>
            <a:ext cx="173470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Introduced PINNs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B9A30-9309-54F4-4D6A-49622E607BDA}"/>
              </a:ext>
            </a:extLst>
          </p:cNvPr>
          <p:cNvSpPr txBox="1"/>
          <p:nvPr/>
        </p:nvSpPr>
        <p:spPr>
          <a:xfrm>
            <a:off x="6434083" y="1926658"/>
            <a:ext cx="204767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dirty="0">
                <a:solidFill>
                  <a:srgbClr val="000000"/>
                </a:solidFill>
                <a:latin typeface="Latin Modern Sans"/>
              </a:rPr>
              <a:t>Burgers, Schrödinger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4E373-0ACD-BDE0-9FBF-5DC2019C1F45}"/>
              </a:ext>
            </a:extLst>
          </p:cNvPr>
          <p:cNvSpPr txBox="1"/>
          <p:nvPr/>
        </p:nvSpPr>
        <p:spPr>
          <a:xfrm>
            <a:off x="9194067" y="1926658"/>
            <a:ext cx="1792157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Smooth PDEs only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284945-9DB5-32E2-5B01-7FCCB4C5D487}"/>
              </a:ext>
            </a:extLst>
          </p:cNvPr>
          <p:cNvSpPr txBox="1"/>
          <p:nvPr/>
        </p:nvSpPr>
        <p:spPr>
          <a:xfrm>
            <a:off x="838201" y="2221246"/>
            <a:ext cx="1931747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Zhu, Liu, Yan (2021)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7ABCF-61AE-9DF1-9BBA-12168AB0F921}"/>
              </a:ext>
            </a:extLst>
          </p:cNvPr>
          <p:cNvSpPr txBox="1"/>
          <p:nvPr/>
        </p:nvSpPr>
        <p:spPr>
          <a:xfrm>
            <a:off x="3522258" y="2221246"/>
            <a:ext cx="224228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dirty="0">
                <a:solidFill>
                  <a:srgbClr val="000000"/>
                </a:solidFill>
                <a:latin typeface="Latin Modern Sans"/>
              </a:rPr>
              <a:t>PINN for AM melt pool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303D6B-6804-3C7B-F04A-9DCFA298B4EE}"/>
              </a:ext>
            </a:extLst>
          </p:cNvPr>
          <p:cNvSpPr txBox="1"/>
          <p:nvPr/>
        </p:nvSpPr>
        <p:spPr>
          <a:xfrm>
            <a:off x="6434323" y="2221246"/>
            <a:ext cx="204017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1D Stefan, 2D steady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2B943-C169-32E3-F915-B1606DF7DC67}"/>
              </a:ext>
            </a:extLst>
          </p:cNvPr>
          <p:cNvSpPr txBox="1"/>
          <p:nvPr/>
        </p:nvSpPr>
        <p:spPr>
          <a:xfrm>
            <a:off x="9194305" y="2221246"/>
            <a:ext cx="2485965" cy="291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Latin Modern Sans"/>
              </a:rPr>
              <a:t>No BC-type compar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ison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400C6-BB8C-3FA5-5451-408BA1ACA733}"/>
              </a:ext>
            </a:extLst>
          </p:cNvPr>
          <p:cNvSpPr txBox="1"/>
          <p:nvPr/>
        </p:nvSpPr>
        <p:spPr>
          <a:xfrm>
            <a:off x="838201" y="2810421"/>
            <a:ext cx="180652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Wang et al. (2022)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C72A42-647C-8A0D-A79D-5F37F9D8A82A}"/>
              </a:ext>
            </a:extLst>
          </p:cNvPr>
          <p:cNvSpPr txBox="1"/>
          <p:nvPr/>
        </p:nvSpPr>
        <p:spPr>
          <a:xfrm>
            <a:off x="3522018" y="2810421"/>
            <a:ext cx="213455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NTK analysis of PINNs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FA58AD-DC82-8A0F-C4C0-75D96361A01F}"/>
              </a:ext>
            </a:extLst>
          </p:cNvPr>
          <p:cNvSpPr txBox="1"/>
          <p:nvPr/>
        </p:nvSpPr>
        <p:spPr>
          <a:xfrm>
            <a:off x="6434082" y="2810421"/>
            <a:ext cx="204626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Convection-diffusion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96EC13-9E7F-4226-729A-B695E37BA39B}"/>
              </a:ext>
            </a:extLst>
          </p:cNvPr>
          <p:cNvSpPr txBox="1"/>
          <p:nvPr/>
        </p:nvSpPr>
        <p:spPr>
          <a:xfrm>
            <a:off x="9194068" y="2810421"/>
            <a:ext cx="2214361" cy="291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Loss-weight sensitiv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ity</a:t>
            </a:r>
            <a:endParaRPr sz="1896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96A7B3-739E-3DAF-FE67-12F4488BF320}"/>
              </a:ext>
            </a:extLst>
          </p:cNvPr>
          <p:cNvSpPr txBox="1"/>
          <p:nvPr/>
        </p:nvSpPr>
        <p:spPr>
          <a:xfrm>
            <a:off x="838201" y="3399571"/>
            <a:ext cx="164339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Liao et al. (2023)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21A00-5CB3-FE05-8E12-236A7D277F3B}"/>
              </a:ext>
            </a:extLst>
          </p:cNvPr>
          <p:cNvSpPr txBox="1"/>
          <p:nvPr/>
        </p:nvSpPr>
        <p:spPr>
          <a:xfrm>
            <a:off x="3522017" y="3399571"/>
            <a:ext cx="1822358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dirty="0">
                <a:solidFill>
                  <a:srgbClr val="000000"/>
                </a:solidFill>
                <a:latin typeface="Latin Modern Sans"/>
              </a:rPr>
              <a:t>Adaptive sampling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3BBEE3-F90D-5A98-7FCF-4B8DCC40C5C1}"/>
              </a:ext>
            </a:extLst>
          </p:cNvPr>
          <p:cNvSpPr txBox="1"/>
          <p:nvPr/>
        </p:nvSpPr>
        <p:spPr>
          <a:xfrm>
            <a:off x="6434082" y="3399571"/>
            <a:ext cx="140692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Transient heat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35934-EE0E-D50F-34E3-081F52DEE959}"/>
              </a:ext>
            </a:extLst>
          </p:cNvPr>
          <p:cNvSpPr txBox="1"/>
          <p:nvPr/>
        </p:nvSpPr>
        <p:spPr>
          <a:xfrm>
            <a:off x="9255148" y="3373487"/>
            <a:ext cx="1960473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896">
                <a:solidFill>
                  <a:srgbClr val="000000"/>
                </a:solidFill>
                <a:latin typeface="Latin Modern Sans"/>
              </a:rPr>
              <a:t>Case-specific tuning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7D3DBD-7A7B-2186-E7DE-707B03C0E7A9}"/>
              </a:ext>
            </a:extLst>
          </p:cNvPr>
          <p:cNvSpPr txBox="1"/>
          <p:nvPr/>
        </p:nvSpPr>
        <p:spPr>
          <a:xfrm>
            <a:off x="838201" y="3694161"/>
            <a:ext cx="979755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McClenny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8EA82F-BBD5-0271-D9FD-B9BC7C5080B2}"/>
              </a:ext>
            </a:extLst>
          </p:cNvPr>
          <p:cNvSpPr txBox="1"/>
          <p:nvPr/>
        </p:nvSpPr>
        <p:spPr>
          <a:xfrm>
            <a:off x="2090325" y="3694161"/>
            <a:ext cx="16511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&amp;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69437F-C234-CF5F-AFD8-CE57CEDCF788}"/>
              </a:ext>
            </a:extLst>
          </p:cNvPr>
          <p:cNvSpPr txBox="1"/>
          <p:nvPr/>
        </p:nvSpPr>
        <p:spPr>
          <a:xfrm>
            <a:off x="2506096" y="3694161"/>
            <a:ext cx="63010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Braga-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3929E1-EF07-5E9E-3168-2F2E9242F98B}"/>
              </a:ext>
            </a:extLst>
          </p:cNvPr>
          <p:cNvSpPr txBox="1"/>
          <p:nvPr/>
        </p:nvSpPr>
        <p:spPr>
          <a:xfrm>
            <a:off x="838202" y="3988748"/>
            <a:ext cx="48365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Neto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DD7A8A-2315-1C5D-90A1-5C1218488903}"/>
              </a:ext>
            </a:extLst>
          </p:cNvPr>
          <p:cNvSpPr txBox="1"/>
          <p:nvPr/>
        </p:nvSpPr>
        <p:spPr>
          <a:xfrm>
            <a:off x="3521698" y="3694161"/>
            <a:ext cx="2109745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Self-adaptive weights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8BD2FC-055F-4F5C-143B-5885D65C6CE0}"/>
              </a:ext>
            </a:extLst>
          </p:cNvPr>
          <p:cNvSpPr txBox="1"/>
          <p:nvPr/>
        </p:nvSpPr>
        <p:spPr>
          <a:xfrm>
            <a:off x="6434005" y="3694161"/>
            <a:ext cx="1660711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Benchmark PDEs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731A27-CC4C-CE0C-8256-5AF16611B7B0}"/>
              </a:ext>
            </a:extLst>
          </p:cNvPr>
          <p:cNvSpPr txBox="1"/>
          <p:nvPr/>
        </p:nvSpPr>
        <p:spPr>
          <a:xfrm>
            <a:off x="9255148" y="3687518"/>
            <a:ext cx="2137445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896">
                <a:solidFill>
                  <a:srgbClr val="000000"/>
                </a:solidFill>
                <a:latin typeface="Latin Modern Sans"/>
              </a:rPr>
              <a:t>No </a:t>
            </a:r>
            <a:r>
              <a:rPr sz="1896">
                <a:solidFill>
                  <a:srgbClr val="000000"/>
                </a:solidFill>
                <a:latin typeface="Latin Modern Sans"/>
              </a:rPr>
              <a:t>phase-change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 test</a:t>
            </a:r>
            <a:endParaRPr sz="1896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34" name="Rounded Rectangle 6">
            <a:extLst>
              <a:ext uri="{FF2B5EF4-FFF2-40B4-BE49-F238E27FC236}">
                <a16:creationId xmlns:a16="http://schemas.microsoft.com/office/drawing/2014/main" id="{41311AEA-F44F-DAC2-03F4-F5C772090852}"/>
              </a:ext>
            </a:extLst>
          </p:cNvPr>
          <p:cNvSpPr/>
          <p:nvPr/>
        </p:nvSpPr>
        <p:spPr>
          <a:xfrm>
            <a:off x="267895" y="4872484"/>
            <a:ext cx="11656209" cy="1105795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053B33A4-8B78-C22C-9A6E-F1C2056AFF73}"/>
              </a:ext>
            </a:extLst>
          </p:cNvPr>
          <p:cNvSpPr/>
          <p:nvPr/>
        </p:nvSpPr>
        <p:spPr>
          <a:xfrm>
            <a:off x="289320" y="4893908"/>
            <a:ext cx="11613360" cy="106294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719A1-8440-A5FF-6F93-E6F0C74B5EA9}"/>
              </a:ext>
            </a:extLst>
          </p:cNvPr>
          <p:cNvSpPr txBox="1"/>
          <p:nvPr/>
        </p:nvSpPr>
        <p:spPr>
          <a:xfrm>
            <a:off x="472619" y="5001444"/>
            <a:ext cx="1062714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Gap addressed by this project: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none of the above directly compare hard- vs. soft-boundary enforcement 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938797-F9D7-D55D-1ADC-DAA8CFD03D35}"/>
              </a:ext>
            </a:extLst>
          </p:cNvPr>
          <p:cNvSpPr txBox="1"/>
          <p:nvPr/>
        </p:nvSpPr>
        <p:spPr>
          <a:xfrm>
            <a:off x="472619" y="5296006"/>
            <a:ext cx="1050101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the same phase-change problem with a matched FEM reference across multiple resolutions. This study fills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40E418-B040-50F4-B1C4-BDD4078259D1}"/>
              </a:ext>
            </a:extLst>
          </p:cNvPr>
          <p:cNvSpPr txBox="1"/>
          <p:nvPr/>
        </p:nvSpPr>
        <p:spPr>
          <a:xfrm>
            <a:off x="472619" y="5590594"/>
            <a:ext cx="779598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that gap and documents the practical training failure modes other papers omit.</a:t>
            </a:r>
          </a:p>
        </p:txBody>
      </p:sp>
    </p:spTree>
    <p:extLst>
      <p:ext uri="{BB962C8B-B14F-4D97-AF65-F5344CB8AC3E}">
        <p14:creationId xmlns:p14="http://schemas.microsoft.com/office/powerpoint/2010/main" val="350724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6953" y="4108331"/>
            <a:ext cx="6061277" cy="1186137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5" name="Rectangle 4"/>
          <p:cNvSpPr/>
          <p:nvPr/>
        </p:nvSpPr>
        <p:spPr>
          <a:xfrm>
            <a:off x="278377" y="4129755"/>
            <a:ext cx="6018429" cy="114328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ectangle 7"/>
          <p:cNvSpPr/>
          <p:nvPr/>
        </p:nvSpPr>
        <p:spPr>
          <a:xfrm>
            <a:off x="362013" y="5533075"/>
            <a:ext cx="5361935" cy="807975"/>
          </a:xfrm>
          <a:prstGeom prst="rect">
            <a:avLst/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ectangle 8"/>
          <p:cNvSpPr/>
          <p:nvPr/>
        </p:nvSpPr>
        <p:spPr>
          <a:xfrm>
            <a:off x="383439" y="5554498"/>
            <a:ext cx="5319084" cy="765125"/>
          </a:xfrm>
          <a:prstGeom prst="rect">
            <a:avLst/>
          </a:prstGeom>
          <a:solidFill>
            <a:srgbClr val="FE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3" name="TextBox 12"/>
          <p:cNvSpPr txBox="1"/>
          <p:nvPr/>
        </p:nvSpPr>
        <p:spPr>
          <a:xfrm>
            <a:off x="256953" y="855436"/>
            <a:ext cx="908903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Demi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53" y="1257145"/>
            <a:ext cx="5140959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A bi-material rod representing an AM deposit: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553" y="1980215"/>
            <a:ext cx="913712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change)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2" y="2351433"/>
            <a:ext cx="5358489" cy="3265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2553" y="2703312"/>
            <a:ext cx="2368212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liquid phase change)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2" y="3074530"/>
            <a:ext cx="4203722" cy="3265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6951" y="3640623"/>
            <a:ext cx="2432654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Demi"/>
              </a:rPr>
              <a:t>Boundary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6117" y="3640623"/>
            <a:ext cx="1172052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 (Dirichlet)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24" y="4247371"/>
            <a:ext cx="3080363" cy="3260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24" y="4545209"/>
            <a:ext cx="3016979" cy="3227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24" y="4801399"/>
            <a:ext cx="1663247" cy="343606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493" y="4839796"/>
            <a:ext cx="2567735" cy="32276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/>
          <a:srcRect r="-7692" b="-8572"/>
          <a:stretch>
            <a:fillRect/>
          </a:stretch>
        </p:blipFill>
        <p:spPr>
          <a:xfrm>
            <a:off x="3977460" y="6991911"/>
            <a:ext cx="5449610" cy="32135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8392" y="5648327"/>
            <a:ext cx="8819594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50">
                <a:solidFill>
                  <a:srgbClr val="000000"/>
                </a:solidFill>
                <a:latin typeface="Franklin Gothic Book"/>
              </a:rPr>
              <a:t>Objective: Predict T(</a:t>
            </a:r>
            <a:r>
              <a:rPr lang="en-US" sz="1850" err="1">
                <a:solidFill>
                  <a:srgbClr val="000000"/>
                </a:solidFill>
                <a:latin typeface="Franklin Gothic Book"/>
              </a:rPr>
              <a:t>x,t</a:t>
            </a:r>
            <a:r>
              <a:rPr lang="en-US" sz="1850">
                <a:solidFill>
                  <a:srgbClr val="000000"/>
                </a:solidFill>
                <a:latin typeface="Franklin Gothic Book"/>
              </a:rPr>
              <a:t>) and interface s(t) </a:t>
            </a:r>
            <a:r>
              <a:rPr lang="en-US" sz="1850" err="1">
                <a:solidFill>
                  <a:srgbClr val="000000"/>
                </a:solidFill>
                <a:latin typeface="Franklin Gothic Book"/>
              </a:rPr>
              <a:t>betterthan</a:t>
            </a:r>
            <a:r>
              <a:rPr lang="en-US" sz="1850">
                <a:solidFill>
                  <a:srgbClr val="000000"/>
                </a:solidFill>
                <a:latin typeface="Franklin Gothic Book"/>
              </a:rPr>
              <a:t> </a:t>
            </a:r>
            <a:r>
              <a:rPr sz="1850">
                <a:solidFill>
                  <a:srgbClr val="000000"/>
                </a:solidFill>
                <a:latin typeface="Franklin Gothic Book"/>
              </a:rPr>
              <a:t>FEM, </a:t>
            </a:r>
            <a:r>
              <a:rPr lang="en-US" sz="1850">
                <a:solidFill>
                  <a:srgbClr val="000000"/>
                </a:solidFill>
                <a:latin typeface="Franklin Gothic Book"/>
              </a:rPr>
              <a:t>without labelled interior </a:t>
            </a:r>
            <a:r>
              <a:rPr sz="1850">
                <a:solidFill>
                  <a:srgbClr val="000000"/>
                </a:solidFill>
                <a:latin typeface="Franklin Gothic Book"/>
              </a:rPr>
              <a:t>data.</a:t>
            </a:r>
            <a:endParaRPr lang="en-US"/>
          </a:p>
        </p:txBody>
      </p:sp>
      <p:pic>
        <p:nvPicPr>
          <p:cNvPr id="55" name="Picture 54" descr="A diagram of different types of aluminum&#10;&#10;AI-generated content may be incorrect.">
            <a:extLst>
              <a:ext uri="{FF2B5EF4-FFF2-40B4-BE49-F238E27FC236}">
                <a16:creationId xmlns:a16="http://schemas.microsoft.com/office/drawing/2014/main" id="{CEEB31D1-26FF-626A-EEF2-6D13FB0856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693" y="3476899"/>
            <a:ext cx="3865282" cy="2572712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340A7DDB-C9E0-AEED-5A3A-92D4AD6CEAB7}"/>
              </a:ext>
            </a:extLst>
          </p:cNvPr>
          <p:cNvSpPr txBox="1"/>
          <p:nvPr/>
        </p:nvSpPr>
        <p:spPr>
          <a:xfrm>
            <a:off x="156379" y="3467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+mj-lt"/>
              </a:rPr>
              <a:t>Problem Setup (1D Stefan)</a:t>
            </a:r>
            <a:endParaRPr lang="en-US" sz="240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12C132-2CBC-1C60-4139-4A37AF82151F}"/>
              </a:ext>
            </a:extLst>
          </p:cNvPr>
          <p:cNvCxnSpPr/>
          <p:nvPr/>
        </p:nvCxnSpPr>
        <p:spPr>
          <a:xfrm>
            <a:off x="278377" y="808389"/>
            <a:ext cx="113381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0" name="Rounded Rectangle 5">
            <a:extLst>
              <a:ext uri="{FF2B5EF4-FFF2-40B4-BE49-F238E27FC236}">
                <a16:creationId xmlns:a16="http://schemas.microsoft.com/office/drawing/2014/main" id="{FFBB8C91-ABEE-59C6-FAD6-D38B0D1C2B83}"/>
              </a:ext>
            </a:extLst>
          </p:cNvPr>
          <p:cNvSpPr/>
          <p:nvPr/>
        </p:nvSpPr>
        <p:spPr>
          <a:xfrm>
            <a:off x="6504008" y="1409623"/>
            <a:ext cx="5361935" cy="1883619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71" name="Rounded Rectangle 6">
            <a:extLst>
              <a:ext uri="{FF2B5EF4-FFF2-40B4-BE49-F238E27FC236}">
                <a16:creationId xmlns:a16="http://schemas.microsoft.com/office/drawing/2014/main" id="{030BDADF-2F46-EBFA-BDD3-32D101E46A60}"/>
              </a:ext>
            </a:extLst>
          </p:cNvPr>
          <p:cNvSpPr/>
          <p:nvPr/>
        </p:nvSpPr>
        <p:spPr>
          <a:xfrm>
            <a:off x="6525433" y="1431047"/>
            <a:ext cx="5319086" cy="1840771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cxnSp>
        <p:nvCxnSpPr>
          <p:cNvPr id="172" name="Connector 7">
            <a:extLst>
              <a:ext uri="{FF2B5EF4-FFF2-40B4-BE49-F238E27FC236}">
                <a16:creationId xmlns:a16="http://schemas.microsoft.com/office/drawing/2014/main" id="{76995FA9-A548-144C-88A1-9EFC26AF9769}"/>
              </a:ext>
            </a:extLst>
          </p:cNvPr>
          <p:cNvCxnSpPr/>
          <p:nvPr/>
        </p:nvCxnSpPr>
        <p:spPr>
          <a:xfrm>
            <a:off x="6681989" y="1571544"/>
            <a:ext cx="4442694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8">
            <a:extLst>
              <a:ext uri="{FF2B5EF4-FFF2-40B4-BE49-F238E27FC236}">
                <a16:creationId xmlns:a16="http://schemas.microsoft.com/office/drawing/2014/main" id="{EB81FB59-E0B3-E307-EBF7-F805D6BC7641}"/>
              </a:ext>
            </a:extLst>
          </p:cNvPr>
          <p:cNvCxnSpPr/>
          <p:nvPr/>
        </p:nvCxnSpPr>
        <p:spPr>
          <a:xfrm>
            <a:off x="6681989" y="1968335"/>
            <a:ext cx="4442694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9">
            <a:extLst>
              <a:ext uri="{FF2B5EF4-FFF2-40B4-BE49-F238E27FC236}">
                <a16:creationId xmlns:a16="http://schemas.microsoft.com/office/drawing/2014/main" id="{58910AB9-81C4-ED8F-FEEB-47DA69499DE7}"/>
              </a:ext>
            </a:extLst>
          </p:cNvPr>
          <p:cNvCxnSpPr/>
          <p:nvPr/>
        </p:nvCxnSpPr>
        <p:spPr>
          <a:xfrm>
            <a:off x="6681989" y="3131365"/>
            <a:ext cx="4442694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480EEB0D-6119-E70D-5077-3FCB971739D2}"/>
              </a:ext>
            </a:extLst>
          </p:cNvPr>
          <p:cNvSpPr txBox="1"/>
          <p:nvPr/>
        </p:nvSpPr>
        <p:spPr>
          <a:xfrm>
            <a:off x="6842655" y="1669019"/>
            <a:ext cx="764376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Property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1AC0C41-E427-6E6F-CE37-BFFA41EEC061}"/>
              </a:ext>
            </a:extLst>
          </p:cNvPr>
          <p:cNvSpPr txBox="1"/>
          <p:nvPr/>
        </p:nvSpPr>
        <p:spPr>
          <a:xfrm>
            <a:off x="8186180" y="1669019"/>
            <a:ext cx="56906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Al (liq)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567119D-8D75-C438-1121-23BFF8482A94}"/>
              </a:ext>
            </a:extLst>
          </p:cNvPr>
          <p:cNvSpPr txBox="1"/>
          <p:nvPr/>
        </p:nvSpPr>
        <p:spPr>
          <a:xfrm>
            <a:off x="9154989" y="1669019"/>
            <a:ext cx="60433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Al (sol)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F3B9219-7275-2997-08BE-6BD0D9E0D229}"/>
              </a:ext>
            </a:extLst>
          </p:cNvPr>
          <p:cNvSpPr txBox="1"/>
          <p:nvPr/>
        </p:nvSpPr>
        <p:spPr>
          <a:xfrm>
            <a:off x="10152723" y="1669019"/>
            <a:ext cx="76591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Graphite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7785CF8-93DF-471B-D74B-9C6538DAF21A}"/>
              </a:ext>
            </a:extLst>
          </p:cNvPr>
          <p:cNvSpPr txBox="1"/>
          <p:nvPr/>
        </p:nvSpPr>
        <p:spPr>
          <a:xfrm>
            <a:off x="6842657" y="2031001"/>
            <a:ext cx="842859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Cambria Math"/>
              </a:rPr>
              <a:t>ρ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[kg/m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  <a:r>
              <a:rPr sz="1687">
                <a:solidFill>
                  <a:srgbClr val="000000"/>
                </a:solidFill>
                <a:latin typeface="Latin Modern Sans"/>
              </a:rPr>
              <a:t>]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FFE4027-DB32-F808-10AB-968EF6708C14}"/>
              </a:ext>
            </a:extLst>
          </p:cNvPr>
          <p:cNvSpPr txBox="1"/>
          <p:nvPr/>
        </p:nvSpPr>
        <p:spPr>
          <a:xfrm>
            <a:off x="8281868" y="2064759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2555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CBCF065-B614-8E17-CDD4-522F6611FD77}"/>
              </a:ext>
            </a:extLst>
          </p:cNvPr>
          <p:cNvSpPr txBox="1"/>
          <p:nvPr/>
        </p:nvSpPr>
        <p:spPr>
          <a:xfrm>
            <a:off x="9264820" y="2064759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2555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49F0041-DAA6-8F3E-EAC9-7997D270D248}"/>
              </a:ext>
            </a:extLst>
          </p:cNvPr>
          <p:cNvSpPr txBox="1"/>
          <p:nvPr/>
        </p:nvSpPr>
        <p:spPr>
          <a:xfrm>
            <a:off x="10330039" y="2064759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2200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814B197-718C-9DD2-DED8-C1542EF3EDCA}"/>
              </a:ext>
            </a:extLst>
          </p:cNvPr>
          <p:cNvSpPr txBox="1"/>
          <p:nvPr/>
        </p:nvSpPr>
        <p:spPr>
          <a:xfrm>
            <a:off x="6842656" y="2319188"/>
            <a:ext cx="90569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Cambria Math"/>
              </a:rPr>
              <a:t>κ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[W/m K]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BCF4755-A84F-56F2-851B-52F4B643E5D6}"/>
              </a:ext>
            </a:extLst>
          </p:cNvPr>
          <p:cNvSpPr txBox="1"/>
          <p:nvPr/>
        </p:nvSpPr>
        <p:spPr>
          <a:xfrm>
            <a:off x="8395806" y="2319188"/>
            <a:ext cx="21800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91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148F6E6-C24E-6B01-1D22-00A2D8700780}"/>
              </a:ext>
            </a:extLst>
          </p:cNvPr>
          <p:cNvSpPr txBox="1"/>
          <p:nvPr/>
        </p:nvSpPr>
        <p:spPr>
          <a:xfrm>
            <a:off x="9321981" y="2319188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211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0014264-51C2-E286-186A-DBE0FE9AEBBF}"/>
              </a:ext>
            </a:extLst>
          </p:cNvPr>
          <p:cNvSpPr txBox="1"/>
          <p:nvPr/>
        </p:nvSpPr>
        <p:spPr>
          <a:xfrm>
            <a:off x="10387200" y="2319188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100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107026C-AAE0-59C7-B701-635397E0CEBA}"/>
              </a:ext>
            </a:extLst>
          </p:cNvPr>
          <p:cNvSpPr txBox="1"/>
          <p:nvPr/>
        </p:nvSpPr>
        <p:spPr>
          <a:xfrm>
            <a:off x="6842655" y="2573588"/>
            <a:ext cx="86882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c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p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[J/kg K]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23D0CC9-2B67-1C79-F6A5-2CDD688F1505}"/>
              </a:ext>
            </a:extLst>
          </p:cNvPr>
          <p:cNvSpPr txBox="1"/>
          <p:nvPr/>
        </p:nvSpPr>
        <p:spPr>
          <a:xfrm>
            <a:off x="8281877" y="2573588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1190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65A7CBE-CBD2-5A57-92EA-DB8144A81277}"/>
              </a:ext>
            </a:extLst>
          </p:cNvPr>
          <p:cNvSpPr txBox="1"/>
          <p:nvPr/>
        </p:nvSpPr>
        <p:spPr>
          <a:xfrm>
            <a:off x="9264828" y="2573588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1190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C263AC6-AA22-5C40-1926-53A28AFEB737}"/>
              </a:ext>
            </a:extLst>
          </p:cNvPr>
          <p:cNvSpPr txBox="1"/>
          <p:nvPr/>
        </p:nvSpPr>
        <p:spPr>
          <a:xfrm>
            <a:off x="10330048" y="2573588"/>
            <a:ext cx="4360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1700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3C050AE-20B7-9F11-EA9B-2D629B471B23}"/>
              </a:ext>
            </a:extLst>
          </p:cNvPr>
          <p:cNvSpPr txBox="1"/>
          <p:nvPr/>
        </p:nvSpPr>
        <p:spPr>
          <a:xfrm>
            <a:off x="6842657" y="2828017"/>
            <a:ext cx="72295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L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[kJ/kg]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A19F4B2-468B-6C08-886A-FC0F160609A9}"/>
              </a:ext>
            </a:extLst>
          </p:cNvPr>
          <p:cNvSpPr txBox="1"/>
          <p:nvPr/>
        </p:nvSpPr>
        <p:spPr>
          <a:xfrm>
            <a:off x="8338788" y="2828017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398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A435995-E4A2-2A19-407C-655CBB433B63}"/>
              </a:ext>
            </a:extLst>
          </p:cNvPr>
          <p:cNvSpPr txBox="1"/>
          <p:nvPr/>
        </p:nvSpPr>
        <p:spPr>
          <a:xfrm>
            <a:off x="9321739" y="2828017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398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2497A5B-DBA6-99D5-73DA-4FCEC9E9BB83}"/>
              </a:ext>
            </a:extLst>
          </p:cNvPr>
          <p:cNvSpPr txBox="1"/>
          <p:nvPr/>
        </p:nvSpPr>
        <p:spPr>
          <a:xfrm>
            <a:off x="10443946" y="2828017"/>
            <a:ext cx="195566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—</a:t>
            </a:r>
          </a:p>
        </p:txBody>
      </p:sp>
      <p:sp>
        <p:nvSpPr>
          <p:cNvPr id="195" name="Slide Number Placeholder 3">
            <a:extLst>
              <a:ext uri="{FF2B5EF4-FFF2-40B4-BE49-F238E27FC236}">
                <a16:creationId xmlns:a16="http://schemas.microsoft.com/office/drawing/2014/main" id="{C77B7608-35C3-4B8B-9FEB-BC7DC6EF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B909-A213-756C-207B-D7F9F2C7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0B3D-10D0-B3F2-E90E-F8725AEC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79" y="342850"/>
            <a:ext cx="9771304" cy="601230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  <a:latin typeface="+mj-lt"/>
              </a:rPr>
              <a:t>Governing Equation</a:t>
            </a:r>
            <a:endParaRPr lang="en-US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7837-1D53-DC2D-D53B-15BC7B5D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EDFAE-12FB-4CB5-C32F-ACFEBD446CC7}"/>
              </a:ext>
            </a:extLst>
          </p:cNvPr>
          <p:cNvSpPr/>
          <p:nvPr/>
        </p:nvSpPr>
        <p:spPr>
          <a:xfrm>
            <a:off x="321189" y="2660670"/>
            <a:ext cx="6318739" cy="2913653"/>
          </a:xfrm>
          <a:prstGeom prst="rect">
            <a:avLst/>
          </a:prstGeom>
          <a:solidFill>
            <a:srgbClr val="FFFFFF"/>
          </a:solidFill>
          <a:ln w="25400">
            <a:solidFill>
              <a:srgbClr val="FFC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rgbClr val="000000"/>
              </a:solidFill>
              <a:latin typeface="Calibri"/>
            </a:endParaRPr>
          </a:p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414506D-5EC8-0F60-2A7E-7033182B5AD1}"/>
                  </a:ext>
                </a:extLst>
              </p:cNvPr>
              <p:cNvSpPr/>
              <p:nvPr/>
            </p:nvSpPr>
            <p:spPr>
              <a:xfrm>
                <a:off x="333668" y="1564252"/>
                <a:ext cx="4299206" cy="91855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FCA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414506D-5EC8-0F60-2A7E-7033182B5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8" y="1564252"/>
                <a:ext cx="4299206" cy="918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FFCA29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60218CA-0FB7-4F16-BB11-117EB255014A}"/>
              </a:ext>
            </a:extLst>
          </p:cNvPr>
          <p:cNvSpPr/>
          <p:nvPr/>
        </p:nvSpPr>
        <p:spPr>
          <a:xfrm>
            <a:off x="7289650" y="2176950"/>
            <a:ext cx="4299206" cy="2233559"/>
          </a:xfrm>
          <a:prstGeom prst="rect">
            <a:avLst/>
          </a:prstGeom>
          <a:solidFill>
            <a:srgbClr val="FFFFFF"/>
          </a:solidFill>
          <a:ln w="25400">
            <a:solidFill>
              <a:srgbClr val="FFC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5DD505-9BAC-51E1-5801-9AF406843AE1}"/>
                  </a:ext>
                </a:extLst>
              </p:cNvPr>
              <p:cNvSpPr txBox="1"/>
              <p:nvPr/>
            </p:nvSpPr>
            <p:spPr>
              <a:xfrm>
                <a:off x="7441740" y="2256650"/>
                <a:ext cx="4547821" cy="207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latin typeface="+mj-lt"/>
                  </a:rPr>
                  <a:t>Term-by-term:</a:t>
                </a:r>
                <a:endParaRPr lang="en-US" i="1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— </m:t>
                      </m:r>
                      <m:r>
                        <m:rPr>
                          <m:nor/>
                        </m:rPr>
                        <a:rPr lang="en-US" dirty="0"/>
                        <m:t>thermal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inertia</m:t>
                      </m:r>
                    </m:oMath>
                  </m:oMathPara>
                </a14:m>
                <a:endParaRPr 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— </m:t>
                      </m:r>
                      <m:r>
                        <m:rPr>
                          <m:nor/>
                        </m:rPr>
                        <a:rPr lang="en-US" dirty="0"/>
                        <m:t>latent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heat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release</m:t>
                      </m:r>
                    </m:oMath>
                  </m:oMathPara>
                </a14:m>
                <a:endParaRPr 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/>
                        <m:t>— </m:t>
                      </m:r>
                      <m:r>
                        <m:rPr>
                          <m:nor/>
                        </m:rPr>
                        <a:rPr lang="en-US"/>
                        <m:t>heat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conduction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 b="1"/>
                  <a:t>PDE residual</a:t>
                </a:r>
                <a:r>
                  <a:rPr lang="en-US"/>
                  <a:t> (PINN physics loss):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fr-FR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5DD505-9BAC-51E1-5801-9AF40684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740" y="2256650"/>
                <a:ext cx="4547821" cy="2074158"/>
              </a:xfrm>
              <a:prstGeom prst="rect">
                <a:avLst/>
              </a:prstGeom>
              <a:blipFill>
                <a:blip r:embed="rId3"/>
                <a:stretch>
                  <a:fillRect l="-1206" t="-1471" b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11F6A0-11CD-E478-2498-0C89D916B678}"/>
                  </a:ext>
                </a:extLst>
              </p:cNvPr>
              <p:cNvSpPr txBox="1"/>
              <p:nvPr/>
            </p:nvSpPr>
            <p:spPr>
              <a:xfrm>
                <a:off x="542464" y="2839829"/>
                <a:ext cx="6097464" cy="991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/>
                  <a:t>Liquid fraction (mushy zone)</a:t>
                </a:r>
                <a:endParaRPr lang="en-US" b="1" i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clip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,0,1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=913</m:t>
                      </m:r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=933</m:t>
                      </m:r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11F6A0-11CD-E478-2498-0C89D916B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4" y="2839829"/>
                <a:ext cx="6097464" cy="991682"/>
              </a:xfrm>
              <a:prstGeom prst="rect">
                <a:avLst/>
              </a:prstGeom>
              <a:blipFill>
                <a:blip r:embed="rId4"/>
                <a:stretch>
                  <a:fillRect l="-900" t="-3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DD7476-C35B-E5AD-A5DF-8875D6996D82}"/>
                  </a:ext>
                </a:extLst>
              </p:cNvPr>
              <p:cNvSpPr txBox="1"/>
              <p:nvPr/>
            </p:nvSpPr>
            <p:spPr>
              <a:xfrm>
                <a:off x="93322" y="4197330"/>
                <a:ext cx="4848249" cy="1011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/>
                        <m:t>Effective</m:t>
                      </m:r>
                      <m:r>
                        <m:rPr>
                          <m:nor/>
                        </m:rPr>
                        <a:rPr lang="en-US" b="1" i="0" dirty="0" smtClean="0"/>
                        <m:t> </m:t>
                      </m:r>
                      <m:r>
                        <m:rPr>
                          <m:nor/>
                        </m:rPr>
                        <a:rPr lang="en-US" b="1" i="0" dirty="0" smtClean="0"/>
                        <m:t>properties</m:t>
                      </m:r>
                      <m:r>
                        <m:rPr>
                          <m:nor/>
                        </m:rPr>
                        <a:rPr lang="en-US" b="1" i="0" dirty="0" smtClean="0"/>
                        <m:t> </m:t>
                      </m:r>
                      <m:r>
                        <m:rPr>
                          <m:nor/>
                        </m:rPr>
                        <a:rPr lang="en-US" i="0" dirty="0" smtClean="0"/>
                        <m:t>blend</m:t>
                      </m:r>
                      <m:r>
                        <m:rPr>
                          <m:nor/>
                        </m:rPr>
                        <a:rPr lang="en-US" i="0" dirty="0" smtClean="0"/>
                        <m:t> </m:t>
                      </m:r>
                      <m:r>
                        <m:rPr>
                          <m:nor/>
                        </m:rPr>
                        <a:rPr lang="en-US" i="0" dirty="0" smtClean="0"/>
                        <m:t>liquid</m:t>
                      </m:r>
                      <m:r>
                        <m:rPr>
                          <m:nor/>
                        </m:rPr>
                        <a:rPr lang="en-US" i="0" dirty="0" smtClean="0"/>
                        <m:t> </m:t>
                      </m:r>
                      <m:r>
                        <m:rPr>
                          <m:lit/>
                          <m:nor/>
                        </m:rPr>
                        <a:rPr lang="en-US" i="0" dirty="0" smtClean="0"/>
                        <m:t>&amp;</m:t>
                      </m:r>
                      <m:r>
                        <m:rPr>
                          <m:nor/>
                        </m:rPr>
                        <a:rPr lang="en-US" i="0" dirty="0" smtClean="0"/>
                        <m:t> </m:t>
                      </m:r>
                      <m:r>
                        <m:rPr>
                          <m:nor/>
                        </m:rPr>
                        <a:rPr lang="en-US" i="0" dirty="0" smtClean="0"/>
                        <m:t>solid</m:t>
                      </m:r>
                      <m:r>
                        <m:rPr>
                          <m:nor/>
                        </m:rPr>
                        <a:rPr lang="en-US" i="0" dirty="0" smtClean="0"/>
                        <m:t>:</m:t>
                      </m:r>
                    </m:oMath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err="1"/>
                            <m:t>liq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/>
                            <m:t>sol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/>
                        <m:t>where</m:t>
                      </m:r>
                      <m:r>
                        <m:rPr>
                          <m:nor/>
                        </m:rPr>
                        <a:rPr lang="en-US" i="0" dirty="0"/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DD7476-C35B-E5AD-A5DF-8875D699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2" y="4197330"/>
                <a:ext cx="4848249" cy="1011174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32D7C78-DBCB-EC2D-9E22-9BF0F4CF7FB0}"/>
              </a:ext>
            </a:extLst>
          </p:cNvPr>
          <p:cNvSpPr txBox="1"/>
          <p:nvPr/>
        </p:nvSpPr>
        <p:spPr>
          <a:xfrm>
            <a:off x="321189" y="10990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>
                <a:latin typeface="FranklinGothic-Demi"/>
              </a:rPr>
              <a:t>Enthalpy-based heat equation form Zhu et al.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8972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7342766" y="1608769"/>
            <a:ext cx="3825025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42766" y="2045745"/>
            <a:ext cx="3825025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42766" y="3368960"/>
            <a:ext cx="3825025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42766" y="3807549"/>
            <a:ext cx="3825025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74347" y="4283560"/>
            <a:ext cx="5361935" cy="824597"/>
          </a:xfrm>
          <a:prstGeom prst="roundRect">
            <a:avLst>
              <a:gd name="adj" fmla="val 10000"/>
            </a:avLst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Rounded Rectangle 9"/>
          <p:cNvSpPr/>
          <p:nvPr/>
        </p:nvSpPr>
        <p:spPr>
          <a:xfrm>
            <a:off x="6595773" y="4304986"/>
            <a:ext cx="5319084" cy="781746"/>
          </a:xfrm>
          <a:prstGeom prst="roundRect">
            <a:avLst>
              <a:gd name="adj" fmla="val 10000"/>
            </a:avLst>
          </a:prstGeom>
          <a:solidFill>
            <a:srgbClr val="FE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3" name="TextBox 12"/>
          <p:cNvSpPr txBox="1"/>
          <p:nvPr/>
        </p:nvSpPr>
        <p:spPr>
          <a:xfrm>
            <a:off x="846978" y="395595"/>
            <a:ext cx="5696111" cy="3892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29" b="1">
                <a:solidFill>
                  <a:srgbClr val="000000"/>
                </a:solidFill>
                <a:latin typeface="Latin Modern Sans"/>
              </a:rPr>
              <a:t>FEM Reference — Mesh Refinement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51" y="1573226"/>
            <a:ext cx="644151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52" y="1809273"/>
            <a:ext cx="4118692" cy="6487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108">
                <a:solidFill>
                  <a:srgbClr val="000000"/>
                </a:solidFill>
                <a:latin typeface="Latin Modern Sans"/>
              </a:rPr>
              <a:t>1D FEM solver on Ω= [</a:t>
            </a:r>
            <a:r>
              <a:rPr sz="2108" i="1">
                <a:solidFill>
                  <a:srgbClr val="000000"/>
                </a:solidFill>
                <a:latin typeface="CMSY10"/>
              </a:rPr>
              <a:t>−</a:t>
            </a:r>
            <a:r>
              <a:rPr sz="2108">
                <a:solidFill>
                  <a:srgbClr val="000000"/>
                </a:solidFill>
                <a:latin typeface="Latin Modern Sans"/>
              </a:rPr>
              <a:t>0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.</a:t>
            </a:r>
            <a:r>
              <a:rPr sz="2108">
                <a:solidFill>
                  <a:srgbClr val="000000"/>
                </a:solidFill>
                <a:latin typeface="Latin Modern Sans"/>
              </a:rPr>
              <a:t>4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,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0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.</a:t>
            </a:r>
            <a:r>
              <a:rPr sz="2108">
                <a:solidFill>
                  <a:srgbClr val="000000"/>
                </a:solidFill>
                <a:latin typeface="Latin Modern Sans"/>
              </a:rPr>
              <a:t>4] m,</a:t>
            </a:r>
            <a:endParaRPr lang="en-US" sz="2108">
              <a:solidFill>
                <a:srgbClr val="000000"/>
              </a:solidFill>
              <a:latin typeface="Latin Modern Sans"/>
            </a:endParaRPr>
          </a:p>
          <a:p>
            <a:r>
              <a:rPr lang="en-US" sz="2108" i="1">
                <a:solidFill>
                  <a:srgbClr val="000000"/>
                </a:solidFill>
                <a:latin typeface="Latin Modern Sans"/>
              </a:rPr>
              <a:t>t</a:t>
            </a:r>
            <a:r>
              <a:rPr lang="en-US" sz="2108" i="1">
                <a:solidFill>
                  <a:srgbClr val="000000"/>
                </a:solidFill>
                <a:latin typeface="CMSY10"/>
              </a:rPr>
              <a:t> ∈</a:t>
            </a:r>
            <a:r>
              <a:rPr lang="en-US" sz="2108">
                <a:solidFill>
                  <a:srgbClr val="000000"/>
                </a:solidFill>
                <a:latin typeface="Latin Modern Sans"/>
              </a:rPr>
              <a:t> [5</a:t>
            </a:r>
            <a:r>
              <a:rPr lang="en-US" sz="2108" i="1">
                <a:solidFill>
                  <a:srgbClr val="000000"/>
                </a:solidFill>
                <a:latin typeface="Cambria Math"/>
              </a:rPr>
              <a:t>,</a:t>
            </a:r>
            <a:r>
              <a:rPr lang="en-US" sz="2108">
                <a:solidFill>
                  <a:srgbClr val="000000"/>
                </a:solidFill>
                <a:latin typeface="Latin Modern Sans"/>
              </a:rPr>
              <a:t> 10]s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552" y="2535814"/>
            <a:ext cx="5422510" cy="6487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108">
                <a:solidFill>
                  <a:srgbClr val="000000"/>
                </a:solidFill>
                <a:latin typeface="Latin Modern Sans"/>
              </a:rPr>
              <a:t>Enthalpy form with apparent heat-capacity for</a:t>
            </a:r>
            <a:endParaRPr lang="en-US" sz="2108">
              <a:solidFill>
                <a:srgbClr val="000000"/>
              </a:solidFill>
              <a:latin typeface="Latin Modern Sans"/>
            </a:endParaRPr>
          </a:p>
          <a:p>
            <a:r>
              <a:rPr lang="en-US" sz="2108">
                <a:solidFill>
                  <a:srgbClr val="000000"/>
                </a:solidFill>
                <a:latin typeface="Latin Modern Sans"/>
              </a:rPr>
              <a:t> latent 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551" y="3421075"/>
            <a:ext cx="4868449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108">
                <a:solidFill>
                  <a:srgbClr val="000000"/>
                </a:solidFill>
                <a:latin typeface="Latin Modern Sans"/>
              </a:rPr>
              <a:t>Dirichlet BCs:</a:t>
            </a:r>
            <a:r>
              <a:rPr sz="2108" i="1">
                <a:solidFill>
                  <a:srgbClr val="000000"/>
                </a:solidFill>
                <a:latin typeface="Latin Modern Sans"/>
              </a:rPr>
              <a:t> </a:t>
            </a:r>
            <a:r>
              <a:rPr sz="2108" i="1" err="1">
                <a:solidFill>
                  <a:srgbClr val="000000"/>
                </a:solidFill>
                <a:latin typeface="Latin Modern Sans"/>
              </a:rPr>
              <a:t>T</a:t>
            </a:r>
            <a:r>
              <a:rPr sz="1475" err="1">
                <a:solidFill>
                  <a:srgbClr val="000000"/>
                </a:solidFill>
                <a:latin typeface="Latin Modern Sans"/>
              </a:rPr>
              <a:t>lb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=298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.</a:t>
            </a:r>
            <a:r>
              <a:rPr sz="2108">
                <a:solidFill>
                  <a:srgbClr val="000000"/>
                </a:solidFill>
                <a:latin typeface="Latin Modern Sans"/>
              </a:rPr>
              <a:t>15 K,</a:t>
            </a:r>
            <a:r>
              <a:rPr sz="2108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475">
                <a:solidFill>
                  <a:srgbClr val="000000"/>
                </a:solidFill>
                <a:latin typeface="Latin Modern Sans"/>
              </a:rPr>
              <a:t>ub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=973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.</a:t>
            </a:r>
            <a:r>
              <a:rPr sz="2108">
                <a:solidFill>
                  <a:srgbClr val="000000"/>
                </a:solidFill>
                <a:latin typeface="Latin Modern Sans"/>
              </a:rPr>
              <a:t>15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552" y="3822784"/>
            <a:ext cx="3459473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108">
                <a:solidFill>
                  <a:srgbClr val="000000"/>
                </a:solidFill>
                <a:latin typeface="Latin Modern Sans"/>
              </a:rPr>
              <a:t>Matched coarsening:</a:t>
            </a:r>
            <a:r>
              <a:rPr sz="2108" i="1">
                <a:solidFill>
                  <a:srgbClr val="000000"/>
                </a:solidFill>
                <a:latin typeface="Latin Modern Sans"/>
              </a:rPr>
              <a:t> </a:t>
            </a:r>
            <a:r>
              <a:rPr sz="2108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475" i="1" err="1">
                <a:solidFill>
                  <a:srgbClr val="000000"/>
                </a:solidFill>
                <a:latin typeface="Latin Modern Sans"/>
              </a:rPr>
              <a:t>t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=</a:t>
            </a:r>
            <a:r>
              <a:rPr sz="2108" i="1">
                <a:solidFill>
                  <a:srgbClr val="000000"/>
                </a:solidFill>
                <a:latin typeface="Latin Modern Sans"/>
              </a:rPr>
              <a:t> </a:t>
            </a:r>
            <a:r>
              <a:rPr sz="2108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475" i="1" err="1">
                <a:solidFill>
                  <a:srgbClr val="000000"/>
                </a:solidFill>
                <a:latin typeface="Latin Modern Sans"/>
              </a:rPr>
              <a:t>x</a:t>
            </a:r>
            <a:endParaRPr sz="1475" i="1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951" y="4304840"/>
            <a:ext cx="1816331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Four resolutions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767" y="4890548"/>
            <a:ext cx="2627322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475" i="1" err="1">
                <a:solidFill>
                  <a:srgbClr val="000000"/>
                </a:solidFill>
                <a:latin typeface="Latin Modern Sans"/>
              </a:rPr>
              <a:t>x</a:t>
            </a:r>
            <a:r>
              <a:rPr sz="2108" i="1">
                <a:solidFill>
                  <a:srgbClr val="000000"/>
                </a:solidFill>
                <a:latin typeface="CMSY10"/>
              </a:rPr>
              <a:t> ∈</a:t>
            </a:r>
            <a:r>
              <a:rPr lang="en-US" sz="2108" i="1">
                <a:solidFill>
                  <a:srgbClr val="000000"/>
                </a:solidFill>
                <a:latin typeface="CMSY10"/>
              </a:rPr>
              <a:t> </a:t>
            </a:r>
            <a:r>
              <a:rPr sz="2108" i="1">
                <a:solidFill>
                  <a:srgbClr val="000000"/>
                </a:solidFill>
                <a:latin typeface="CMSY10"/>
              </a:rPr>
              <a:t>{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50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,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100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,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150</a:t>
            </a:r>
            <a:r>
              <a:rPr sz="2108" i="1">
                <a:solidFill>
                  <a:srgbClr val="000000"/>
                </a:solidFill>
                <a:latin typeface="Cambria Math"/>
              </a:rPr>
              <a:t>,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200</a:t>
            </a:r>
            <a:r>
              <a:rPr sz="2108" i="1">
                <a:solidFill>
                  <a:srgbClr val="000000"/>
                </a:solidFill>
                <a:latin typeface="CMSY10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50" y="5479696"/>
            <a:ext cx="5109476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Reference (“truth”):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fine FEM on 401</a:t>
            </a:r>
            <a:r>
              <a:rPr sz="2108" i="1">
                <a:solidFill>
                  <a:srgbClr val="000000"/>
                </a:solidFill>
                <a:latin typeface="CMSY10"/>
              </a:rPr>
              <a:t>×</a:t>
            </a:r>
            <a:r>
              <a:rPr sz="2108">
                <a:solidFill>
                  <a:srgbClr val="000000"/>
                </a:solidFill>
                <a:latin typeface="Latin Modern Sans"/>
              </a:rPr>
              <a:t>201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204" y="1713436"/>
            <a:ext cx="22762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i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6228" y="1713436"/>
            <a:ext cx="642805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∆</a:t>
            </a:r>
            <a:r>
              <a:rPr sz="1896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4524" y="1713436"/>
            <a:ext cx="211596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i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2490" y="1713436"/>
            <a:ext cx="519373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∆</a:t>
            </a:r>
            <a:r>
              <a:rPr sz="1896" i="1">
                <a:solidFill>
                  <a:srgbClr val="000000"/>
                </a:solidFill>
                <a:latin typeface="Latin Modern Sans"/>
              </a:rPr>
              <a:t>t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[s]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7302" y="2148020"/>
            <a:ext cx="246862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0247" y="2106338"/>
            <a:ext cx="82715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</a:t>
            </a:r>
            <a:r>
              <a:rPr sz="1896" i="1">
                <a:solidFill>
                  <a:srgbClr val="000000"/>
                </a:solidFill>
                <a:latin typeface="Cambria Math"/>
              </a:rPr>
              <a:t>.</a:t>
            </a:r>
            <a:r>
              <a:rPr sz="1896">
                <a:solidFill>
                  <a:srgbClr val="000000"/>
                </a:solidFill>
                <a:latin typeface="Latin Modern Sans"/>
              </a:rPr>
              <a:t>6</a:t>
            </a:r>
            <a:r>
              <a:rPr sz="1896" i="1">
                <a:solidFill>
                  <a:srgbClr val="000000"/>
                </a:solidFill>
                <a:latin typeface="CMSY9"/>
              </a:rPr>
              <a:t>×</a:t>
            </a:r>
            <a:r>
              <a:rPr sz="1896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1488" y="2148020"/>
            <a:ext cx="246862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624" y="2148020"/>
            <a:ext cx="431208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0.20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5393" y="2444221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0285" y="2402538"/>
            <a:ext cx="82715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8</a:t>
            </a:r>
            <a:r>
              <a:rPr sz="1896" i="1">
                <a:solidFill>
                  <a:srgbClr val="000000"/>
                </a:solidFill>
                <a:latin typeface="Cambria Math"/>
              </a:rPr>
              <a:t>.</a:t>
            </a:r>
            <a:r>
              <a:rPr sz="1896">
                <a:solidFill>
                  <a:srgbClr val="000000"/>
                </a:solidFill>
                <a:latin typeface="Latin Modern Sans"/>
              </a:rPr>
              <a:t>0</a:t>
            </a:r>
            <a:r>
              <a:rPr sz="1896" i="1">
                <a:solidFill>
                  <a:srgbClr val="000000"/>
                </a:solidFill>
                <a:latin typeface="CMSY9"/>
              </a:rPr>
              <a:t>×</a:t>
            </a:r>
            <a:r>
              <a:rPr sz="1896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553" y="2444221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633" y="2444221"/>
            <a:ext cx="431208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0.10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5393" y="2740448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0283" y="2698766"/>
            <a:ext cx="82715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5</a:t>
            </a:r>
            <a:r>
              <a:rPr sz="1896" i="1">
                <a:solidFill>
                  <a:srgbClr val="000000"/>
                </a:solidFill>
                <a:latin typeface="Cambria Math"/>
              </a:rPr>
              <a:t>.</a:t>
            </a:r>
            <a:r>
              <a:rPr sz="1896">
                <a:solidFill>
                  <a:srgbClr val="000000"/>
                </a:solidFill>
                <a:latin typeface="Latin Modern Sans"/>
              </a:rPr>
              <a:t>3</a:t>
            </a:r>
            <a:r>
              <a:rPr sz="1896" i="1">
                <a:solidFill>
                  <a:srgbClr val="000000"/>
                </a:solidFill>
                <a:latin typeface="CMSY9"/>
              </a:rPr>
              <a:t>×</a:t>
            </a:r>
            <a:r>
              <a:rPr sz="1896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9551" y="2740448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150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7691" y="2740448"/>
            <a:ext cx="55463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0.067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5393" y="3036651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0283" y="2994967"/>
            <a:ext cx="82715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4</a:t>
            </a:r>
            <a:r>
              <a:rPr sz="1896" i="1">
                <a:solidFill>
                  <a:srgbClr val="000000"/>
                </a:solidFill>
                <a:latin typeface="Cambria Math"/>
              </a:rPr>
              <a:t>.</a:t>
            </a:r>
            <a:r>
              <a:rPr sz="1896">
                <a:solidFill>
                  <a:srgbClr val="000000"/>
                </a:solidFill>
                <a:latin typeface="Latin Modern Sans"/>
              </a:rPr>
              <a:t>0</a:t>
            </a:r>
            <a:r>
              <a:rPr sz="1896" i="1">
                <a:solidFill>
                  <a:srgbClr val="000000"/>
                </a:solidFill>
                <a:latin typeface="CMSY9"/>
              </a:rPr>
              <a:t>×</a:t>
            </a:r>
            <a:r>
              <a:rPr sz="1896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9551" y="3036651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7691" y="3036651"/>
            <a:ext cx="55463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0.050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3461" y="3471235"/>
            <a:ext cx="492122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401*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0296" y="3429551"/>
            <a:ext cx="82715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2</a:t>
            </a:r>
            <a:r>
              <a:rPr sz="1896" i="1">
                <a:solidFill>
                  <a:srgbClr val="000000"/>
                </a:solidFill>
                <a:latin typeface="Cambria Math"/>
              </a:rPr>
              <a:t>.</a:t>
            </a:r>
            <a:r>
              <a:rPr sz="1896">
                <a:solidFill>
                  <a:srgbClr val="000000"/>
                </a:solidFill>
                <a:latin typeface="Latin Modern Sans"/>
              </a:rPr>
              <a:t>0</a:t>
            </a:r>
            <a:r>
              <a:rPr sz="1896" i="1">
                <a:solidFill>
                  <a:srgbClr val="000000"/>
                </a:solidFill>
                <a:latin typeface="CMSY9"/>
              </a:rPr>
              <a:t>×</a:t>
            </a:r>
            <a:r>
              <a:rPr sz="1896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9553" y="3471235"/>
            <a:ext cx="370294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201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7691" y="3471235"/>
            <a:ext cx="554639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0.050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1459" y="4394769"/>
            <a:ext cx="4258538" cy="875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96" b="1">
                <a:solidFill>
                  <a:srgbClr val="000000"/>
                </a:solidFill>
                <a:latin typeface="Latin Modern Sans"/>
              </a:rPr>
              <a:t>Used for:</a:t>
            </a:r>
            <a:r>
              <a:rPr sz="1896" i="1">
                <a:solidFill>
                  <a:srgbClr val="000000"/>
                </a:solidFill>
                <a:latin typeface="Latin Modern Sans"/>
              </a:rPr>
              <a:t> L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  <a:r>
              <a:rPr sz="1896">
                <a:solidFill>
                  <a:srgbClr val="000000"/>
                </a:solidFill>
                <a:latin typeface="Latin Modern Sans"/>
              </a:rPr>
              <a:t>-error benchmark vs. PINN and </a:t>
            </a:r>
            <a:endParaRPr lang="en-US" sz="1896">
              <a:solidFill>
                <a:srgbClr val="000000"/>
              </a:solidFill>
              <a:latin typeface="Latin Modern Sans"/>
            </a:endParaRPr>
          </a:p>
          <a:p>
            <a:r>
              <a:rPr sz="1896">
                <a:solidFill>
                  <a:srgbClr val="000000"/>
                </a:solidFill>
                <a:latin typeface="Latin Modern Sans"/>
              </a:rPr>
              <a:t>in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terface tracking</a:t>
            </a:r>
            <a:r>
              <a:rPr lang="en-US" sz="1896" i="1">
                <a:solidFill>
                  <a:srgbClr val="000000"/>
                </a:solidFill>
                <a:latin typeface="Latin Modern Sans"/>
              </a:rPr>
              <a:t> s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(</a:t>
            </a:r>
            <a:r>
              <a:rPr lang="en-US" sz="1896" i="1">
                <a:solidFill>
                  <a:srgbClr val="000000"/>
                </a:solidFill>
                <a:latin typeface="Latin Modern Sans"/>
              </a:rPr>
              <a:t>t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)</a:t>
            </a:r>
          </a:p>
          <a:p>
            <a:pPr algn="l"/>
            <a:endParaRPr sz="1896">
              <a:solidFill>
                <a:srgbClr val="000000"/>
              </a:solidFill>
              <a:latin typeface="Latin Modern San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77D7E7E-AE58-2124-54ED-C9415004F3E0}"/>
              </a:ext>
            </a:extLst>
          </p:cNvPr>
          <p:cNvCxnSpPr>
            <a:cxnSpLocks/>
          </p:cNvCxnSpPr>
          <p:nvPr/>
        </p:nvCxnSpPr>
        <p:spPr>
          <a:xfrm>
            <a:off x="846978" y="887519"/>
            <a:ext cx="104980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Slide Number Placeholder 3">
            <a:extLst>
              <a:ext uri="{FF2B5EF4-FFF2-40B4-BE49-F238E27FC236}">
                <a16:creationId xmlns:a16="http://schemas.microsoft.com/office/drawing/2014/main" id="{ED77132C-5086-0BA3-84F2-1EAA35A3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006" y="5817861"/>
            <a:ext cx="5828103" cy="509881"/>
          </a:xfrm>
          <a:prstGeom prst="rect">
            <a:avLst/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5" name="Rectangle 4"/>
          <p:cNvSpPr/>
          <p:nvPr/>
        </p:nvSpPr>
        <p:spPr>
          <a:xfrm>
            <a:off x="278430" y="5839288"/>
            <a:ext cx="5785255" cy="467032"/>
          </a:xfrm>
          <a:prstGeom prst="rect">
            <a:avLst/>
          </a:prstGeom>
          <a:solidFill>
            <a:srgbClr val="FE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6" name="Rectangle 5"/>
          <p:cNvSpPr/>
          <p:nvPr/>
        </p:nvSpPr>
        <p:spPr>
          <a:xfrm>
            <a:off x="6570838" y="1368125"/>
            <a:ext cx="2285966" cy="342891"/>
          </a:xfrm>
          <a:prstGeom prst="rect">
            <a:avLst/>
          </a:prstGeom>
          <a:solidFill>
            <a:srgbClr val="D5E2EE"/>
          </a:solidFill>
          <a:ln w="506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7" name="Rectangle 6"/>
          <p:cNvSpPr/>
          <p:nvPr/>
        </p:nvSpPr>
        <p:spPr>
          <a:xfrm>
            <a:off x="6570838" y="1912225"/>
            <a:ext cx="2285966" cy="342891"/>
          </a:xfrm>
          <a:prstGeom prst="rect">
            <a:avLst/>
          </a:prstGeom>
          <a:solidFill>
            <a:srgbClr val="E0E9F2"/>
          </a:solidFill>
          <a:ln w="506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ectangle 7"/>
          <p:cNvSpPr/>
          <p:nvPr/>
        </p:nvSpPr>
        <p:spPr>
          <a:xfrm>
            <a:off x="6570838" y="2456322"/>
            <a:ext cx="2285966" cy="342891"/>
          </a:xfrm>
          <a:prstGeom prst="rect">
            <a:avLst/>
          </a:prstGeom>
          <a:solidFill>
            <a:srgbClr val="FBDEBF"/>
          </a:solidFill>
          <a:ln w="5060">
            <a:solidFill>
              <a:srgbClr val="F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ectangle 8"/>
          <p:cNvSpPr/>
          <p:nvPr/>
        </p:nvSpPr>
        <p:spPr>
          <a:xfrm>
            <a:off x="6570838" y="2924217"/>
            <a:ext cx="2285966" cy="543357"/>
          </a:xfrm>
          <a:prstGeom prst="rect">
            <a:avLst/>
          </a:prstGeom>
          <a:solidFill>
            <a:srgbClr val="FBDEBF"/>
          </a:solidFill>
          <a:ln w="5060">
            <a:solidFill>
              <a:srgbClr val="F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Rectangle 9"/>
          <p:cNvSpPr/>
          <p:nvPr/>
        </p:nvSpPr>
        <p:spPr>
          <a:xfrm>
            <a:off x="6570838" y="3592573"/>
            <a:ext cx="2285966" cy="342891"/>
          </a:xfrm>
          <a:prstGeom prst="rect">
            <a:avLst/>
          </a:prstGeom>
          <a:solidFill>
            <a:srgbClr val="FBDEBF"/>
          </a:solidFill>
          <a:ln w="5060">
            <a:solidFill>
              <a:srgbClr val="F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1" name="Rectangle 10"/>
          <p:cNvSpPr/>
          <p:nvPr/>
        </p:nvSpPr>
        <p:spPr>
          <a:xfrm>
            <a:off x="6570838" y="4136665"/>
            <a:ext cx="2285966" cy="342891"/>
          </a:xfrm>
          <a:prstGeom prst="rect">
            <a:avLst/>
          </a:prstGeom>
          <a:solidFill>
            <a:srgbClr val="CBDAE9"/>
          </a:solidFill>
          <a:ln w="506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2" name="Rectangle 11"/>
          <p:cNvSpPr/>
          <p:nvPr/>
        </p:nvSpPr>
        <p:spPr>
          <a:xfrm>
            <a:off x="6570838" y="4680754"/>
            <a:ext cx="2285966" cy="342891"/>
          </a:xfrm>
          <a:prstGeom prst="rect">
            <a:avLst/>
          </a:prstGeom>
          <a:solidFill>
            <a:srgbClr val="BFFFBF"/>
          </a:solidFill>
          <a:ln w="506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3" name="Rectangle 12"/>
          <p:cNvSpPr/>
          <p:nvPr/>
        </p:nvSpPr>
        <p:spPr>
          <a:xfrm>
            <a:off x="7693954" y="1828932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4" name="Rectangle 13"/>
          <p:cNvSpPr/>
          <p:nvPr/>
        </p:nvSpPr>
        <p:spPr>
          <a:xfrm>
            <a:off x="7693954" y="2373030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5" name="Rectangle 14"/>
          <p:cNvSpPr/>
          <p:nvPr/>
        </p:nvSpPr>
        <p:spPr>
          <a:xfrm>
            <a:off x="7693954" y="2840921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6" name="Rectangle 15"/>
          <p:cNvSpPr/>
          <p:nvPr/>
        </p:nvSpPr>
        <p:spPr>
          <a:xfrm>
            <a:off x="7693954" y="3509274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7" name="Rectangle 16"/>
          <p:cNvSpPr/>
          <p:nvPr/>
        </p:nvSpPr>
        <p:spPr>
          <a:xfrm>
            <a:off x="7693954" y="4053366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8" name="Rectangle 17"/>
          <p:cNvSpPr/>
          <p:nvPr/>
        </p:nvSpPr>
        <p:spPr>
          <a:xfrm>
            <a:off x="7693954" y="4597453"/>
            <a:ext cx="39735" cy="52191"/>
          </a:xfrm>
          <a:prstGeom prst="rect">
            <a:avLst/>
          </a:prstGeom>
          <a:solidFill>
            <a:srgbClr val="2E6DA8"/>
          </a:solidFill>
          <a:ln w="854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11" y="866602"/>
            <a:ext cx="3956013" cy="422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185" y="1606598"/>
            <a:ext cx="624349" cy="32289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55" y="1510840"/>
            <a:ext cx="319784" cy="26139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788" y="1544736"/>
            <a:ext cx="789660" cy="383426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27" y="2204874"/>
            <a:ext cx="4256406" cy="3228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9569" y="3462669"/>
            <a:ext cx="4599144" cy="6487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sz="2108">
                <a:solidFill>
                  <a:srgbClr val="000000"/>
                </a:solidFill>
                <a:latin typeface="Franklin Gothic Demi"/>
              </a:rPr>
              <a:t>Init: </a:t>
            </a:r>
            <a:r>
              <a:rPr sz="2108">
                <a:solidFill>
                  <a:srgbClr val="000000"/>
                </a:solidFill>
                <a:latin typeface="Franklin Gothic Book"/>
              </a:rPr>
              <a:t>Xavier uniform</a:t>
            </a:r>
            <a:r>
              <a:rPr lang="en-US" sz="2108">
                <a:solidFill>
                  <a:srgbClr val="000000"/>
                </a:solidFill>
              </a:rPr>
              <a:t>: used to initialize the</a:t>
            </a:r>
          </a:p>
          <a:p>
            <a:r>
              <a:rPr lang="en-US" sz="2108">
                <a:solidFill>
                  <a:srgbClr val="000000"/>
                </a:solidFill>
              </a:rPr>
              <a:t> weights of neural network</a:t>
            </a:r>
            <a:endParaRPr sz="2108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2801" y="4294991"/>
            <a:ext cx="2316340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Demi"/>
              </a:rPr>
              <a:t>Input normalization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5955" y="4150851"/>
            <a:ext cx="67326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: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740" y="4658790"/>
            <a:ext cx="2015357" cy="50926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4252" y="5023645"/>
            <a:ext cx="1023514" cy="363358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2227" y="4841550"/>
            <a:ext cx="1526486" cy="32651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103" y="5909984"/>
            <a:ext cx="3324876" cy="299238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7897" y="1397757"/>
            <a:ext cx="1071815" cy="26907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8689" y="1938965"/>
            <a:ext cx="1950166" cy="27196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55945" y="2513182"/>
            <a:ext cx="1942840" cy="259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687">
                <a:solidFill>
                  <a:srgbClr val="000000"/>
                </a:solidFill>
                <a:latin typeface="Franklin Gothic Book"/>
              </a:rPr>
              <a:t>Hidden Layer 1 (200)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7363" y="2993411"/>
            <a:ext cx="1529265" cy="259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687">
                <a:solidFill>
                  <a:srgbClr val="000000"/>
                </a:solidFill>
                <a:latin typeface="Franklin Gothic Book"/>
              </a:rPr>
              <a:t>... (4 layers total)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5945" y="3649494"/>
            <a:ext cx="1942840" cy="259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687">
                <a:solidFill>
                  <a:srgbClr val="000000"/>
                </a:solidFill>
                <a:latin typeface="Franklin Gothic Book"/>
              </a:rPr>
              <a:t>Hidden Layer 4 (200)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9090" y="4145062"/>
            <a:ext cx="1756166" cy="332839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7205" y="4710779"/>
            <a:ext cx="1514572" cy="295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A3640DFB-118E-68AF-76A6-50E746C982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8430" y="234320"/>
                <a:ext cx="10515600" cy="60123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kern="1200">
                    <a:solidFill>
                      <a:schemeClr val="tx1"/>
                    </a:solidFill>
                    <a:latin typeface="+mn-lt"/>
                    <a:ea typeface="+mj-ea"/>
                    <a:cs typeface="+mj-cs"/>
                  </a:defRPr>
                </a:lvl1pPr>
              </a:lstStyle>
              <a:p>
                <a:r>
                  <a:rPr lang="en-US" b="1">
                    <a:solidFill>
                      <a:srgbClr val="000000"/>
                    </a:solidFill>
                    <a:latin typeface="+mj-lt"/>
                  </a:rPr>
                  <a:t>Methodology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+mj-lt"/>
                      </a:rPr>
                      <m:t>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>
                    <a:solidFill>
                      <a:srgbClr val="000000"/>
                    </a:solidFill>
                    <a:latin typeface="+mj-lt"/>
                  </a:rPr>
                  <a:t>PINN Architecture </a:t>
                </a:r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A3640DFB-118E-68AF-76A6-50E746C9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30" y="234320"/>
                <a:ext cx="10515600" cy="601230"/>
              </a:xfrm>
              <a:prstGeom prst="rect">
                <a:avLst/>
              </a:prstGeom>
              <a:blipFill>
                <a:blip r:embed="rId15"/>
                <a:stretch>
                  <a:fillRect l="-1797" t="-24242" b="-35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FDCA4C-2E44-DA5C-B704-618ED544ABCC}"/>
              </a:ext>
            </a:extLst>
          </p:cNvPr>
          <p:cNvCxnSpPr/>
          <p:nvPr/>
        </p:nvCxnSpPr>
        <p:spPr>
          <a:xfrm>
            <a:off x="358185" y="822850"/>
            <a:ext cx="113381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7D31420-DE94-26DC-9291-C1D276F9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09DC2C-198D-83D7-9868-31E7183D8812}"/>
                  </a:ext>
                </a:extLst>
              </p:cNvPr>
              <p:cNvSpPr txBox="1"/>
              <p:nvPr/>
            </p:nvSpPr>
            <p:spPr>
              <a:xfrm>
                <a:off x="629569" y="2737892"/>
                <a:ext cx="4619791" cy="324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108">
                    <a:solidFill>
                      <a:srgbClr val="000000"/>
                    </a:solidFill>
                    <a:latin typeface="Franklin Gothic Demi"/>
                  </a:rPr>
                  <a:t>Activation</a:t>
                </a:r>
                <a:r>
                  <a:rPr lang="en-US" sz="2108">
                    <a:solidFill>
                      <a:srgbClr val="000000"/>
                    </a:solidFill>
                  </a:rPr>
                  <a:t> </a:t>
                </a:r>
                <a:r>
                  <a:rPr lang="en-US" sz="2108" b="1">
                    <a:solidFill>
                      <a:srgbClr val="000000"/>
                    </a:solidFill>
                  </a:rPr>
                  <a:t>(Paper) </a:t>
                </a:r>
                <a:r>
                  <a:rPr lang="en-US" sz="2108">
                    <a:solidFill>
                      <a:srgbClr val="000000"/>
                    </a:solidFill>
                    <a:latin typeface="Franklin Gothic Dem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</a:rPr>
                      <m:t>swish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</a:rPr>
                      <m:t>SiLU</m:t>
                    </m:r>
                    <m:r>
                      <m:rPr>
                        <m:nor/>
                      </m:rPr>
                      <a:rPr lang="en-US" sz="2000" i="0" dirty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 smtClean="0">
                        <a:solidFill>
                          <a:srgbClr val="000000"/>
                        </a:solidFill>
                      </a:rPr>
                      <m:t>=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09DC2C-198D-83D7-9868-31E7183D8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69" y="2737892"/>
                <a:ext cx="4619791" cy="324384"/>
              </a:xfrm>
              <a:prstGeom prst="rect">
                <a:avLst/>
              </a:prstGeom>
              <a:blipFill>
                <a:blip r:embed="rId16"/>
                <a:stretch>
                  <a:fillRect l="-3562" t="-24528" b="-528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0BBEB2-7056-3FC4-029B-124D67FFD7E4}"/>
                  </a:ext>
                </a:extLst>
              </p:cNvPr>
              <p:cNvSpPr txBox="1"/>
              <p:nvPr/>
            </p:nvSpPr>
            <p:spPr>
              <a:xfrm>
                <a:off x="629569" y="3085810"/>
                <a:ext cx="2523576" cy="324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108">
                    <a:solidFill>
                      <a:srgbClr val="000000"/>
                    </a:solidFill>
                    <a:latin typeface="Franklin Gothic Demi"/>
                  </a:rPr>
                  <a:t>Activation</a:t>
                </a:r>
                <a:r>
                  <a:rPr lang="en-US" sz="2108">
                    <a:solidFill>
                      <a:srgbClr val="000000"/>
                    </a:solidFill>
                  </a:rPr>
                  <a:t> </a:t>
                </a:r>
                <a:r>
                  <a:rPr lang="en-US" sz="2108" b="1">
                    <a:solidFill>
                      <a:srgbClr val="000000"/>
                    </a:solidFill>
                  </a:rPr>
                  <a:t>(Our) </a:t>
                </a:r>
                <a:r>
                  <a:rPr lang="en-US" sz="2108">
                    <a:solidFill>
                      <a:srgbClr val="000000"/>
                    </a:solidFill>
                    <a:latin typeface="Franklin Gothic Dem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anh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0BBEB2-7056-3FC4-029B-124D67FFD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69" y="3085810"/>
                <a:ext cx="2523576" cy="324384"/>
              </a:xfrm>
              <a:prstGeom prst="rect">
                <a:avLst/>
              </a:prstGeom>
              <a:blipFill>
                <a:blip r:embed="rId17"/>
                <a:stretch>
                  <a:fillRect l="-6522" t="-24528" r="-2657" b="-528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7" y="52"/>
            <a:ext cx="12191662" cy="68578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4" name="Rectangle 3"/>
          <p:cNvSpPr/>
          <p:nvPr/>
        </p:nvSpPr>
        <p:spPr>
          <a:xfrm>
            <a:off x="334747" y="1704755"/>
            <a:ext cx="5594929" cy="3061447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5" name="Rectangle 4"/>
          <p:cNvSpPr/>
          <p:nvPr/>
        </p:nvSpPr>
        <p:spPr>
          <a:xfrm>
            <a:off x="356171" y="1726179"/>
            <a:ext cx="5552081" cy="3018598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6" name="Rectangle 5"/>
          <p:cNvSpPr/>
          <p:nvPr/>
        </p:nvSpPr>
        <p:spPr>
          <a:xfrm>
            <a:off x="6263579" y="1707899"/>
            <a:ext cx="5594929" cy="2620843"/>
          </a:xfrm>
          <a:prstGeom prst="rect">
            <a:avLst/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7" name="Rectangle 6"/>
          <p:cNvSpPr/>
          <p:nvPr/>
        </p:nvSpPr>
        <p:spPr>
          <a:xfrm>
            <a:off x="6285003" y="1729324"/>
            <a:ext cx="5552081" cy="2577994"/>
          </a:xfrm>
          <a:prstGeom prst="rect">
            <a:avLst/>
          </a:prstGeom>
          <a:solidFill>
            <a:srgbClr val="FD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ectangle 7"/>
          <p:cNvSpPr/>
          <p:nvPr/>
        </p:nvSpPr>
        <p:spPr>
          <a:xfrm>
            <a:off x="268564" y="5060794"/>
            <a:ext cx="11656209" cy="8477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ectangle 8"/>
          <p:cNvSpPr/>
          <p:nvPr/>
        </p:nvSpPr>
        <p:spPr>
          <a:xfrm>
            <a:off x="289989" y="5082218"/>
            <a:ext cx="11613360" cy="804892"/>
          </a:xfrm>
          <a:prstGeom prst="rect">
            <a:avLst/>
          </a:prstGeom>
          <a:solidFill>
            <a:srgbClr val="E8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Rectangle 9"/>
          <p:cNvSpPr/>
          <p:nvPr/>
        </p:nvSpPr>
        <p:spPr>
          <a:xfrm>
            <a:off x="749" y="6568300"/>
            <a:ext cx="12191662" cy="289561"/>
          </a:xfrm>
          <a:prstGeom prst="rect">
            <a:avLst/>
          </a:prstGeom>
          <a:solidFill>
            <a:srgbClr val="FFC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025" y="6097414"/>
            <a:ext cx="571485" cy="77116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5" y="1843812"/>
            <a:ext cx="3879716" cy="29923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681" y="2313626"/>
            <a:ext cx="2697043" cy="38021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17" y="2888271"/>
            <a:ext cx="4190290" cy="3248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496" y="3309385"/>
            <a:ext cx="48250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Demi"/>
              </a:rPr>
              <a:t>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896" y="3309385"/>
            <a:ext cx="6091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417" y="3309385"/>
            <a:ext cx="2810065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IC + PDE only (2 objectives)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5788" y="3801471"/>
            <a:ext cx="1579422" cy="3260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9496" y="4353818"/>
            <a:ext cx="1195840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8000"/>
                </a:solidFill>
                <a:latin typeface="Franklin Gothic Demi"/>
              </a:rPr>
              <a:t>Advantage: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6126" y="4353818"/>
            <a:ext cx="335085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8000"/>
                </a:solidFill>
                <a:latin typeface="Franklin Gothic Book"/>
              </a:rPr>
              <a:t>exact BC, fewer competing terms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451" y="1838049"/>
            <a:ext cx="3789986" cy="38021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450" y="2188288"/>
            <a:ext cx="3278933" cy="32278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68330" y="2582068"/>
            <a:ext cx="48250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Demi"/>
              </a:rPr>
              <a:t>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6731" y="2582068"/>
            <a:ext cx="6091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7249" y="2582068"/>
            <a:ext cx="3890489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IC + BC penalties + PDE (4 objectives)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874" y="3074153"/>
            <a:ext cx="3362920" cy="3260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68331" y="3626500"/>
            <a:ext cx="1134926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Demi"/>
              </a:rPr>
              <a:t>Challenge: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9583" y="3626500"/>
            <a:ext cx="814325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balance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5479" y="3626500"/>
            <a:ext cx="142668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4458" y="3626500"/>
            <a:ext cx="1093248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objectives,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3801" y="3626500"/>
            <a:ext cx="37029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8863" y="3626500"/>
            <a:ext cx="198772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4243" y="3626500"/>
            <a:ext cx="746999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saddle-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8332" y="3921088"/>
            <a:ext cx="1429879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F07A00"/>
                </a:solidFill>
                <a:latin typeface="Franklin Gothic Book"/>
              </a:rPr>
              <a:t>point collapse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316" y="5228363"/>
            <a:ext cx="2685351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Demi"/>
              </a:rPr>
              <a:t>Shared hyperparameters: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6352" y="5095841"/>
            <a:ext cx="8410416" cy="428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435" y="5492819"/>
            <a:ext cx="3366671" cy="299238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21C55188-98FE-54A7-36B2-E3C3748197CD}"/>
              </a:ext>
            </a:extLst>
          </p:cNvPr>
          <p:cNvSpPr txBox="1">
            <a:spLocks/>
          </p:cNvSpPr>
          <p:nvPr/>
        </p:nvSpPr>
        <p:spPr>
          <a:xfrm>
            <a:off x="292035" y="278893"/>
            <a:ext cx="10515600" cy="6012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00"/>
                </a:solidFill>
                <a:latin typeface="+mj-lt"/>
              </a:rPr>
              <a:t>PINN </a:t>
            </a:r>
            <a:r>
              <a:rPr lang="en-US" b="1">
                <a:latin typeface="+mj-lt"/>
              </a:rPr>
              <a:t>Hard BC vs. Soft BC Enforcement</a:t>
            </a:r>
            <a:r>
              <a:rPr lang="en-US" b="1">
                <a:solidFill>
                  <a:srgbClr val="000000"/>
                </a:solidFill>
                <a:latin typeface="+mj-lt"/>
              </a:rPr>
              <a:t> </a:t>
            </a:r>
            <a:endParaRPr lang="en-US" b="1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42BF08-867A-D71D-640E-0CE89666E4DF}"/>
              </a:ext>
            </a:extLst>
          </p:cNvPr>
          <p:cNvCxnSpPr/>
          <p:nvPr/>
        </p:nvCxnSpPr>
        <p:spPr>
          <a:xfrm>
            <a:off x="356171" y="787400"/>
            <a:ext cx="113381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836856E-3014-716F-6C3A-DFCA710E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5850" y="5225293"/>
            <a:ext cx="6061277" cy="805738"/>
          </a:xfrm>
          <a:prstGeom prst="rect">
            <a:avLst/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5" name="Rectangle 4"/>
          <p:cNvSpPr/>
          <p:nvPr/>
        </p:nvSpPr>
        <p:spPr>
          <a:xfrm>
            <a:off x="317274" y="5246717"/>
            <a:ext cx="6018429" cy="762890"/>
          </a:xfrm>
          <a:prstGeom prst="rect">
            <a:avLst/>
          </a:prstGeom>
          <a:solidFill>
            <a:srgbClr val="FE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ectangle 7"/>
          <p:cNvSpPr/>
          <p:nvPr/>
        </p:nvSpPr>
        <p:spPr>
          <a:xfrm>
            <a:off x="6652141" y="4585862"/>
            <a:ext cx="5245259" cy="735003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ectangle 8"/>
          <p:cNvSpPr/>
          <p:nvPr/>
        </p:nvSpPr>
        <p:spPr>
          <a:xfrm>
            <a:off x="6673567" y="4607285"/>
            <a:ext cx="5202408" cy="6921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3" name="TextBox 12"/>
          <p:cNvSpPr txBox="1"/>
          <p:nvPr/>
        </p:nvSpPr>
        <p:spPr>
          <a:xfrm>
            <a:off x="295849" y="1142203"/>
            <a:ext cx="2629438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Demi"/>
              </a:rPr>
              <a:t>Stage 1 — Pre-training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2117" y="1142203"/>
            <a:ext cx="1274388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 (IC fit only)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7" y="2289234"/>
            <a:ext cx="3533701" cy="3265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0062" y="2589146"/>
            <a:ext cx="5007076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Initializes weights in a physically meaningful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450" y="2881473"/>
            <a:ext cx="575479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849" y="3284666"/>
            <a:ext cx="2825004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Demi"/>
              </a:rPr>
              <a:t>Stage 2 — Main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5741" y="3284666"/>
            <a:ext cx="1829027" cy="324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2108">
                <a:solidFill>
                  <a:srgbClr val="000000"/>
                </a:solidFill>
                <a:latin typeface="Franklin Gothic Book"/>
              </a:rPr>
              <a:t> (IC + PDE + BC)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70" y="3736206"/>
            <a:ext cx="2655718" cy="365363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71" y="4105011"/>
            <a:ext cx="5387048" cy="35941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70" y="4543233"/>
            <a:ext cx="3664573" cy="3228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3826" y="5350859"/>
            <a:ext cx="849592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Demi"/>
              </a:rPr>
              <a:t>Analogy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06" y="5350859"/>
            <a:ext cx="60914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7224" y="5350859"/>
            <a:ext cx="3207866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Adam = hiker finding the valley;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827" y="5645447"/>
            <a:ext cx="4967898" cy="2917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sz="1896">
                <a:solidFill>
                  <a:srgbClr val="000000"/>
                </a:solidFill>
                <a:latin typeface="Franklin Gothic Book"/>
              </a:rPr>
              <a:t>L-BFGS = GPS robot locating the exact minimum.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241" y="4684469"/>
            <a:ext cx="3050570" cy="26907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240" y="4935979"/>
            <a:ext cx="1331208" cy="292765"/>
          </a:xfrm>
          <a:prstGeom prst="rect">
            <a:avLst/>
          </a:prstGeom>
        </p:spPr>
      </p:pic>
      <p:sp>
        <p:nvSpPr>
          <p:cNvPr id="52" name="Title 1">
            <a:extLst>
              <a:ext uri="{FF2B5EF4-FFF2-40B4-BE49-F238E27FC236}">
                <a16:creationId xmlns:a16="http://schemas.microsoft.com/office/drawing/2014/main" id="{0EB6F557-298C-7F58-B929-464AE86DD5A4}"/>
              </a:ext>
            </a:extLst>
          </p:cNvPr>
          <p:cNvSpPr txBox="1">
            <a:spLocks/>
          </p:cNvSpPr>
          <p:nvPr/>
        </p:nvSpPr>
        <p:spPr>
          <a:xfrm>
            <a:off x="295849" y="236677"/>
            <a:ext cx="10515600" cy="6012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00"/>
                </a:solidFill>
                <a:latin typeface="+mj-lt"/>
              </a:rPr>
              <a:t>PINN </a:t>
            </a:r>
            <a:r>
              <a:rPr lang="en-US" b="1">
                <a:latin typeface="+mj-lt"/>
              </a:rPr>
              <a:t>Training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4511A5-E824-FE06-B418-4E9D51246842}"/>
                  </a:ext>
                </a:extLst>
              </p:cNvPr>
              <p:cNvSpPr txBox="1"/>
              <p:nvPr/>
            </p:nvSpPr>
            <p:spPr>
              <a:xfrm>
                <a:off x="0" y="1571308"/>
                <a:ext cx="7128229" cy="76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𝑶𝒃𝒋𝒆𝒄𝒕𝒊𝒗𝒆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𝓅𝓇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ℯ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FEM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NRM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4511A5-E824-FE06-B418-4E9D51246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71308"/>
                <a:ext cx="7128229" cy="7645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53E468-7246-C304-7B97-4649A6FADB41}"/>
              </a:ext>
            </a:extLst>
          </p:cNvPr>
          <p:cNvCxnSpPr/>
          <p:nvPr/>
        </p:nvCxnSpPr>
        <p:spPr>
          <a:xfrm>
            <a:off x="317274" y="762000"/>
            <a:ext cx="113381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5948B23-7050-8B5A-8220-779A410237C9}"/>
              </a:ext>
            </a:extLst>
          </p:cNvPr>
          <p:cNvSpPr/>
          <p:nvPr/>
        </p:nvSpPr>
        <p:spPr>
          <a:xfrm>
            <a:off x="6694278" y="1442882"/>
            <a:ext cx="5245259" cy="2166168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F843B821-08AC-42FD-D2CA-87E610770913}"/>
              </a:ext>
            </a:extLst>
          </p:cNvPr>
          <p:cNvSpPr/>
          <p:nvPr/>
        </p:nvSpPr>
        <p:spPr>
          <a:xfrm>
            <a:off x="6715704" y="1464307"/>
            <a:ext cx="5202408" cy="2123317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cxnSp>
        <p:nvCxnSpPr>
          <p:cNvPr id="12" name="Connector 8">
            <a:extLst>
              <a:ext uri="{FF2B5EF4-FFF2-40B4-BE49-F238E27FC236}">
                <a16:creationId xmlns:a16="http://schemas.microsoft.com/office/drawing/2014/main" id="{43F2D806-841B-45FB-2008-C01B2A1302A9}"/>
              </a:ext>
            </a:extLst>
          </p:cNvPr>
          <p:cNvCxnSpPr/>
          <p:nvPr/>
        </p:nvCxnSpPr>
        <p:spPr>
          <a:xfrm>
            <a:off x="6872230" y="1604804"/>
            <a:ext cx="4315788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9">
            <a:extLst>
              <a:ext uri="{FF2B5EF4-FFF2-40B4-BE49-F238E27FC236}">
                <a16:creationId xmlns:a16="http://schemas.microsoft.com/office/drawing/2014/main" id="{05537620-ACB8-12BB-F40F-F854C13BD5FB}"/>
              </a:ext>
            </a:extLst>
          </p:cNvPr>
          <p:cNvCxnSpPr/>
          <p:nvPr/>
        </p:nvCxnSpPr>
        <p:spPr>
          <a:xfrm>
            <a:off x="6872230" y="2001595"/>
            <a:ext cx="4315788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0">
            <a:extLst>
              <a:ext uri="{FF2B5EF4-FFF2-40B4-BE49-F238E27FC236}">
                <a16:creationId xmlns:a16="http://schemas.microsoft.com/office/drawing/2014/main" id="{CD08B6A1-3B1F-A696-C41E-065AD160BF3B}"/>
              </a:ext>
            </a:extLst>
          </p:cNvPr>
          <p:cNvCxnSpPr/>
          <p:nvPr/>
        </p:nvCxnSpPr>
        <p:spPr>
          <a:xfrm>
            <a:off x="6872230" y="2907214"/>
            <a:ext cx="4315788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B8752B-CFFE-F24E-B82A-217EF564E6D7}"/>
              </a:ext>
            </a:extLst>
          </p:cNvPr>
          <p:cNvSpPr txBox="1"/>
          <p:nvPr/>
        </p:nvSpPr>
        <p:spPr>
          <a:xfrm>
            <a:off x="7032925" y="1702279"/>
            <a:ext cx="27776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C1DD8-D316-FD12-F7AE-EBF58A053A7B}"/>
              </a:ext>
            </a:extLst>
          </p:cNvPr>
          <p:cNvSpPr txBox="1"/>
          <p:nvPr/>
        </p:nvSpPr>
        <p:spPr>
          <a:xfrm>
            <a:off x="9369469" y="1702279"/>
            <a:ext cx="64498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Symbol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C91B91-C8E6-EA3D-E45A-109C5244156D}"/>
              </a:ext>
            </a:extLst>
          </p:cNvPr>
          <p:cNvSpPr txBox="1"/>
          <p:nvPr/>
        </p:nvSpPr>
        <p:spPr>
          <a:xfrm>
            <a:off x="10423118" y="1702279"/>
            <a:ext cx="527004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Count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4375A-DAE3-BAC5-48A3-F23F51386E89}"/>
              </a:ext>
            </a:extLst>
          </p:cNvPr>
          <p:cNvSpPr txBox="1"/>
          <p:nvPr/>
        </p:nvSpPr>
        <p:spPr>
          <a:xfrm>
            <a:off x="7032926" y="2095037"/>
            <a:ext cx="1373581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Initial condition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2CD7C4-DB01-5EEE-A9FF-6CFD5352D460}"/>
              </a:ext>
            </a:extLst>
          </p:cNvPr>
          <p:cNvSpPr txBox="1"/>
          <p:nvPr/>
        </p:nvSpPr>
        <p:spPr>
          <a:xfrm>
            <a:off x="9591883" y="2095037"/>
            <a:ext cx="221214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>
                <a:solidFill>
                  <a:srgbClr val="000000"/>
                </a:solidFill>
                <a:latin typeface="Latin Modern Sans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716812-73FC-0684-44D8-5B71C81785DB}"/>
              </a:ext>
            </a:extLst>
          </p:cNvPr>
          <p:cNvSpPr txBox="1"/>
          <p:nvPr/>
        </p:nvSpPr>
        <p:spPr>
          <a:xfrm>
            <a:off x="10540457" y="2095037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300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9690ED-A962-1085-248A-C1661B4C0935}"/>
              </a:ext>
            </a:extLst>
          </p:cNvPr>
          <p:cNvSpPr txBox="1"/>
          <p:nvPr/>
        </p:nvSpPr>
        <p:spPr>
          <a:xfrm>
            <a:off x="7032926" y="2349464"/>
            <a:ext cx="1807611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Boundary (Soft only)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B6218E-34A2-6C9F-5EAF-342D3A694032}"/>
              </a:ext>
            </a:extLst>
          </p:cNvPr>
          <p:cNvSpPr txBox="1"/>
          <p:nvPr/>
        </p:nvSpPr>
        <p:spPr>
          <a:xfrm>
            <a:off x="9587956" y="2349464"/>
            <a:ext cx="22281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738FC4-24AF-4443-3225-01CCB61A5254}"/>
              </a:ext>
            </a:extLst>
          </p:cNvPr>
          <p:cNvSpPr txBox="1"/>
          <p:nvPr/>
        </p:nvSpPr>
        <p:spPr>
          <a:xfrm>
            <a:off x="10540457" y="2349464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100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ED80E3-850A-ED01-2546-0F0C62E15DBD}"/>
              </a:ext>
            </a:extLst>
          </p:cNvPr>
          <p:cNvSpPr txBox="1"/>
          <p:nvPr/>
        </p:nvSpPr>
        <p:spPr>
          <a:xfrm>
            <a:off x="7032925" y="2603865"/>
            <a:ext cx="1490216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Collocation (LHS)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85D436-1FF4-CF16-C39B-02E4ECF495BD}"/>
              </a:ext>
            </a:extLst>
          </p:cNvPr>
          <p:cNvSpPr txBox="1"/>
          <p:nvPr/>
        </p:nvSpPr>
        <p:spPr>
          <a:xfrm>
            <a:off x="9590700" y="2603865"/>
            <a:ext cx="189154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A226CF-9441-0198-AE38-8639B3D42229}"/>
              </a:ext>
            </a:extLst>
          </p:cNvPr>
          <p:cNvSpPr txBox="1"/>
          <p:nvPr/>
        </p:nvSpPr>
        <p:spPr>
          <a:xfrm>
            <a:off x="10395031" y="2603865"/>
            <a:ext cx="59952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40,000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6E7B18-4B06-1324-FCEB-A6C21B1B5EF7}"/>
              </a:ext>
            </a:extLst>
          </p:cNvPr>
          <p:cNvSpPr txBox="1"/>
          <p:nvPr/>
        </p:nvSpPr>
        <p:spPr>
          <a:xfrm>
            <a:off x="6872230" y="2993074"/>
            <a:ext cx="436209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LHS = Latin Hypercube Sampling; ensures uniform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04E648-36F4-5E12-1253-96296B66ED0F}"/>
              </a:ext>
            </a:extLst>
          </p:cNvPr>
          <p:cNvSpPr txBox="1"/>
          <p:nvPr/>
        </p:nvSpPr>
        <p:spPr>
          <a:xfrm>
            <a:off x="6872230" y="3247503"/>
            <a:ext cx="358566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coverage without regular-grid repetition.</a:t>
            </a:r>
          </a:p>
        </p:txBody>
      </p: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360E9047-9933-A8B1-EA36-07B70B8F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2224" y="6244609"/>
            <a:ext cx="2743200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7F6F-8ADA-7002-41C8-6874AAC1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latin typeface="Latin Modern Sans"/>
              </a:rPr>
              <a:t>Training Data &amp; PINN Prediction Field</a:t>
            </a:r>
            <a:br>
              <a:rPr lang="en-US" b="1">
                <a:solidFill>
                  <a:srgbClr val="000000"/>
                </a:solidFill>
                <a:latin typeface="Latin Modern Sans"/>
              </a:rPr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5B2B-50BA-5BA3-9724-E96661B5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11</a:t>
            </a:fld>
            <a:endParaRPr lang="en-US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A02DB19-2EB3-8083-90C6-AD7C78C9AFFD}"/>
              </a:ext>
            </a:extLst>
          </p:cNvPr>
          <p:cNvSpPr/>
          <p:nvPr/>
        </p:nvSpPr>
        <p:spPr>
          <a:xfrm>
            <a:off x="207019" y="5634284"/>
            <a:ext cx="7925868" cy="430918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C436A34-0AAA-790F-3A63-7FA90732A078}"/>
              </a:ext>
            </a:extLst>
          </p:cNvPr>
          <p:cNvSpPr/>
          <p:nvPr/>
        </p:nvSpPr>
        <p:spPr>
          <a:xfrm>
            <a:off x="260933" y="5653031"/>
            <a:ext cx="7836784" cy="393425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0176C909-AB26-D891-EA03-5228A395F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48" y="1381638"/>
            <a:ext cx="3856382" cy="342892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1A4A195-590B-1CFF-D668-3E2123CFD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62" y="1213300"/>
            <a:ext cx="4870716" cy="3428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CCEE73-546D-CEC9-BDE7-B82E8D7A0B1C}"/>
              </a:ext>
            </a:extLst>
          </p:cNvPr>
          <p:cNvSpPr txBox="1"/>
          <p:nvPr/>
        </p:nvSpPr>
        <p:spPr>
          <a:xfrm>
            <a:off x="334743" y="5024801"/>
            <a:ext cx="4782720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 b="1">
                <a:solidFill>
                  <a:srgbClr val="000000"/>
                </a:solidFill>
                <a:latin typeface="Latin Modern Sans"/>
              </a:rPr>
              <a:t>(a)</a:t>
            </a:r>
            <a:r>
              <a:rPr sz="1475">
                <a:solidFill>
                  <a:srgbClr val="000000"/>
                </a:solidFill>
                <a:latin typeface="Latin Modern Sans"/>
              </a:rPr>
              <a:t> Training data layout in (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t</a:t>
            </a:r>
            <a:r>
              <a:rPr sz="1475" i="1">
                <a:solidFill>
                  <a:srgbClr val="000000"/>
                </a:solidFill>
                <a:latin typeface="Cambria Math"/>
              </a:rPr>
              <a:t>,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 x</a:t>
            </a:r>
            <a:r>
              <a:rPr sz="1475">
                <a:solidFill>
                  <a:srgbClr val="000000"/>
                </a:solidFill>
                <a:latin typeface="Latin Modern Sans"/>
              </a:rPr>
              <a:t>): collocation (black), IC (red), BC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E4C83-623F-1DA2-591C-2605ED0281AB}"/>
              </a:ext>
            </a:extLst>
          </p:cNvPr>
          <p:cNvSpPr txBox="1"/>
          <p:nvPr/>
        </p:nvSpPr>
        <p:spPr>
          <a:xfrm>
            <a:off x="2830934" y="5239042"/>
            <a:ext cx="557845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>
                <a:solidFill>
                  <a:srgbClr val="000000"/>
                </a:solidFill>
                <a:latin typeface="Latin Modern Sans"/>
              </a:rPr>
              <a:t>(green)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B0ECB-AFAB-FC52-437D-2424220F2553}"/>
              </a:ext>
            </a:extLst>
          </p:cNvPr>
          <p:cNvSpPr txBox="1"/>
          <p:nvPr/>
        </p:nvSpPr>
        <p:spPr>
          <a:xfrm>
            <a:off x="6365561" y="5024748"/>
            <a:ext cx="4700518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 b="1">
                <a:solidFill>
                  <a:srgbClr val="000000"/>
                </a:solidFill>
                <a:latin typeface="Latin Modern Sans"/>
              </a:rPr>
              <a:t>(b)</a:t>
            </a:r>
            <a:r>
              <a:rPr sz="1475">
                <a:solidFill>
                  <a:srgbClr val="000000"/>
                </a:solidFill>
                <a:latin typeface="Latin Modern Sans"/>
              </a:rPr>
              <a:t> Predicted temperature field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475">
                <a:solidFill>
                  <a:srgbClr val="000000"/>
                </a:solidFill>
                <a:latin typeface="Latin Modern Sans"/>
              </a:rPr>
              <a:t>(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475" i="1">
                <a:solidFill>
                  <a:srgbClr val="000000"/>
                </a:solidFill>
                <a:latin typeface="Cambria Math"/>
              </a:rPr>
              <a:t>,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475">
                <a:solidFill>
                  <a:srgbClr val="000000"/>
                </a:solidFill>
                <a:latin typeface="Latin Modern Sans"/>
              </a:rPr>
              <a:t>) from the Hard-BC PINN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3BAEE-F326-404E-8613-F0641E659C94}"/>
              </a:ext>
            </a:extLst>
          </p:cNvPr>
          <p:cNvSpPr txBox="1"/>
          <p:nvPr/>
        </p:nvSpPr>
        <p:spPr>
          <a:xfrm>
            <a:off x="470627" y="5749081"/>
            <a:ext cx="6737807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 b="1">
                <a:solidFill>
                  <a:srgbClr val="000000"/>
                </a:solidFill>
              </a:rPr>
              <a:t>The PINN is mesh-free: once trained,</a:t>
            </a:r>
            <a:r>
              <a:rPr sz="1475" b="1" i="1">
                <a:solidFill>
                  <a:srgbClr val="000000"/>
                </a:solidFill>
              </a:rPr>
              <a:t> T</a:t>
            </a:r>
            <a:r>
              <a:rPr sz="1475" b="1">
                <a:solidFill>
                  <a:srgbClr val="000000"/>
                </a:solidFill>
              </a:rPr>
              <a:t>(</a:t>
            </a:r>
            <a:r>
              <a:rPr sz="1475" b="1" i="1">
                <a:solidFill>
                  <a:srgbClr val="000000"/>
                </a:solidFill>
              </a:rPr>
              <a:t>x, t</a:t>
            </a:r>
            <a:r>
              <a:rPr sz="1475" b="1">
                <a:solidFill>
                  <a:srgbClr val="000000"/>
                </a:solidFill>
              </a:rPr>
              <a:t>) is evaluated at any (</a:t>
            </a:r>
            <a:r>
              <a:rPr sz="1475" b="1" i="1">
                <a:solidFill>
                  <a:srgbClr val="000000"/>
                </a:solidFill>
              </a:rPr>
              <a:t>x, t</a:t>
            </a:r>
            <a:r>
              <a:rPr sz="1475" b="1">
                <a:solidFill>
                  <a:srgbClr val="000000"/>
                </a:solidFill>
              </a:rPr>
              <a:t>) in microseconds.</a:t>
            </a:r>
          </a:p>
        </p:txBody>
      </p:sp>
    </p:spTree>
    <p:extLst>
      <p:ext uri="{BB962C8B-B14F-4D97-AF65-F5344CB8AC3E}">
        <p14:creationId xmlns:p14="http://schemas.microsoft.com/office/powerpoint/2010/main" val="54255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14DCE-B531-A166-12DE-E6EA84AB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D331C-82D8-F65D-D668-7FA2B64A0D36}"/>
              </a:ext>
            </a:extLst>
          </p:cNvPr>
          <p:cNvSpPr txBox="1"/>
          <p:nvPr/>
        </p:nvSpPr>
        <p:spPr>
          <a:xfrm>
            <a:off x="838200" y="1097914"/>
            <a:ext cx="522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D874BE-3A31-9055-C526-46E85D23495C}"/>
              </a:ext>
            </a:extLst>
          </p:cNvPr>
          <p:cNvSpPr txBox="1"/>
          <p:nvPr/>
        </p:nvSpPr>
        <p:spPr>
          <a:xfrm>
            <a:off x="4435323" y="1097914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850C8F-20B4-BB90-4374-39B8EFEB7CF1}"/>
              </a:ext>
            </a:extLst>
          </p:cNvPr>
          <p:cNvSpPr txBox="1"/>
          <p:nvPr/>
        </p:nvSpPr>
        <p:spPr>
          <a:xfrm>
            <a:off x="838200" y="3801222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4FC2DD-50D9-0F88-DF06-2CEE8CC3D989}"/>
              </a:ext>
            </a:extLst>
          </p:cNvPr>
          <p:cNvSpPr txBox="1"/>
          <p:nvPr/>
        </p:nvSpPr>
        <p:spPr>
          <a:xfrm>
            <a:off x="4438529" y="3801222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d)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E05377-C8DC-C5CF-0A38-07587260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Geometry and Prediction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31214-428F-0B09-D542-64D18064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54139"/>
            <a:ext cx="5120243" cy="3604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9CEDFA-3525-5FE6-161A-0D92CB3A6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1854139"/>
            <a:ext cx="5734050" cy="4219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F57F63-AEF3-3183-1E34-3DDC70493F8A}"/>
              </a:ext>
            </a:extLst>
          </p:cNvPr>
          <p:cNvSpPr txBox="1"/>
          <p:nvPr/>
        </p:nvSpPr>
        <p:spPr>
          <a:xfrm>
            <a:off x="891251" y="1466563"/>
            <a:ext cx="277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Our PINN model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2D122-913F-8C23-6DDE-ABF92A6CE177}"/>
              </a:ext>
            </a:extLst>
          </p:cNvPr>
          <p:cNvSpPr txBox="1"/>
          <p:nvPr/>
        </p:nvSpPr>
        <p:spPr>
          <a:xfrm>
            <a:off x="6850173" y="1399082"/>
            <a:ext cx="328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Zhu et al PINN model prediction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3A690B-E046-CC5A-FED4-15B033313889}"/>
              </a:ext>
            </a:extLst>
          </p:cNvPr>
          <p:cNvSpPr txBox="1"/>
          <p:nvPr/>
        </p:nvSpPr>
        <p:spPr>
          <a:xfrm>
            <a:off x="2831053" y="5881556"/>
            <a:ext cx="4756623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475" b="1">
                <a:solidFill>
                  <a:srgbClr val="000000"/>
                </a:solidFill>
                <a:latin typeface="Latin Modern Sans"/>
              </a:rPr>
              <a:t>Fig:</a:t>
            </a:r>
            <a:r>
              <a:rPr sz="1475">
                <a:solidFill>
                  <a:srgbClr val="000000"/>
                </a:solidFill>
                <a:latin typeface="Latin Modern Sans"/>
              </a:rPr>
              <a:t> Predicted temperature field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475">
                <a:solidFill>
                  <a:srgbClr val="000000"/>
                </a:solidFill>
                <a:latin typeface="Latin Modern Sans"/>
              </a:rPr>
              <a:t>(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475" i="1">
                <a:solidFill>
                  <a:srgbClr val="000000"/>
                </a:solidFill>
                <a:latin typeface="Cambria Math"/>
              </a:rPr>
              <a:t>,</a:t>
            </a:r>
            <a:r>
              <a:rPr sz="1475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475">
                <a:solidFill>
                  <a:srgbClr val="000000"/>
                </a:solidFill>
                <a:latin typeface="Latin Modern Sans"/>
              </a:rPr>
              <a:t>) from the Hard-BC PINN</a:t>
            </a:r>
          </a:p>
        </p:txBody>
      </p:sp>
    </p:spTree>
    <p:extLst>
      <p:ext uri="{BB962C8B-B14F-4D97-AF65-F5344CB8AC3E}">
        <p14:creationId xmlns:p14="http://schemas.microsoft.com/office/powerpoint/2010/main" val="2452247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39D4-50BC-E60D-9EB6-E7FE3FC8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42147-8F95-ED1F-7E05-4E48CA90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2C931-1CB0-30EC-1824-32D1C1D456C9}"/>
              </a:ext>
            </a:extLst>
          </p:cNvPr>
          <p:cNvSpPr txBox="1"/>
          <p:nvPr/>
        </p:nvSpPr>
        <p:spPr>
          <a:xfrm>
            <a:off x="838200" y="1097914"/>
            <a:ext cx="522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2E75B-BF1B-9B5B-2571-4FD70B8C236F}"/>
              </a:ext>
            </a:extLst>
          </p:cNvPr>
          <p:cNvSpPr txBox="1"/>
          <p:nvPr/>
        </p:nvSpPr>
        <p:spPr>
          <a:xfrm>
            <a:off x="4435323" y="1097914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3F6382-F9AD-5674-7DDD-948437B7E509}"/>
              </a:ext>
            </a:extLst>
          </p:cNvPr>
          <p:cNvSpPr txBox="1"/>
          <p:nvPr/>
        </p:nvSpPr>
        <p:spPr>
          <a:xfrm>
            <a:off x="838200" y="3801222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653088-5FAE-C8F8-6F56-2A6685ED0072}"/>
              </a:ext>
            </a:extLst>
          </p:cNvPr>
          <p:cNvSpPr txBox="1"/>
          <p:nvPr/>
        </p:nvSpPr>
        <p:spPr>
          <a:xfrm>
            <a:off x="4438529" y="3801222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d)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AC3DE7-C39B-26B9-3FEC-6D1CAD1B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Training Loss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CD666-0EA1-3072-8DF1-E7B28BCB7333}"/>
              </a:ext>
            </a:extLst>
          </p:cNvPr>
          <p:cNvSpPr txBox="1"/>
          <p:nvPr/>
        </p:nvSpPr>
        <p:spPr>
          <a:xfrm>
            <a:off x="891251" y="1466563"/>
            <a:ext cx="301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Our PINN model Training loss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E82AA-8F38-2941-6846-9A96D8E17EE8}"/>
              </a:ext>
            </a:extLst>
          </p:cNvPr>
          <p:cNvSpPr txBox="1"/>
          <p:nvPr/>
        </p:nvSpPr>
        <p:spPr>
          <a:xfrm>
            <a:off x="6850173" y="1399082"/>
            <a:ext cx="2853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Zhu et al PINN Training loss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C606F-7F63-B0C3-BBB4-F3DADED89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39" y="2077987"/>
            <a:ext cx="5119803" cy="36306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68788-68CE-861F-8B44-39C5EB5EA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26" y="1856269"/>
            <a:ext cx="5259591" cy="388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8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9A12-0B80-3010-FC21-28235A46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A13CC-463C-7728-45D8-21B01986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ED16A-8769-72F4-AEC8-44ED6CB465E9}"/>
              </a:ext>
            </a:extLst>
          </p:cNvPr>
          <p:cNvSpPr txBox="1"/>
          <p:nvPr/>
        </p:nvSpPr>
        <p:spPr>
          <a:xfrm>
            <a:off x="838200" y="1097914"/>
            <a:ext cx="522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0EE6-5E3A-4AE3-9739-87C27E63116B}"/>
              </a:ext>
            </a:extLst>
          </p:cNvPr>
          <p:cNvSpPr txBox="1"/>
          <p:nvPr/>
        </p:nvSpPr>
        <p:spPr>
          <a:xfrm>
            <a:off x="4435323" y="1097914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DA89BD-ACD6-8A2A-0A7D-A1D523F0C774}"/>
              </a:ext>
            </a:extLst>
          </p:cNvPr>
          <p:cNvSpPr txBox="1"/>
          <p:nvPr/>
        </p:nvSpPr>
        <p:spPr>
          <a:xfrm>
            <a:off x="838200" y="3801222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03E08-1973-9E33-5F8A-47E64A40404B}"/>
              </a:ext>
            </a:extLst>
          </p:cNvPr>
          <p:cNvSpPr txBox="1"/>
          <p:nvPr/>
        </p:nvSpPr>
        <p:spPr>
          <a:xfrm>
            <a:off x="4438529" y="3801222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d)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5EDCD6-BF58-1A28-DC16-72F9E8DC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Temperature prediction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3816E-BFA4-8844-4125-8C42359A485A}"/>
              </a:ext>
            </a:extLst>
          </p:cNvPr>
          <p:cNvSpPr txBox="1"/>
          <p:nvPr/>
        </p:nvSpPr>
        <p:spPr>
          <a:xfrm>
            <a:off x="891251" y="1079169"/>
            <a:ext cx="412702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Our PINN model temperature prediction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FEB82-97D2-E568-4FF4-99202A784374}"/>
              </a:ext>
            </a:extLst>
          </p:cNvPr>
          <p:cNvSpPr txBox="1"/>
          <p:nvPr/>
        </p:nvSpPr>
        <p:spPr>
          <a:xfrm>
            <a:off x="6697373" y="1097914"/>
            <a:ext cx="460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Zhu et al PINN model temperature prediction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A7B66-94ED-6864-A026-4A5099DE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6" y="1498738"/>
            <a:ext cx="5193154" cy="3486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5B144-56D6-3962-FF63-E272FAC5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17" y="1580287"/>
            <a:ext cx="4876798" cy="3413759"/>
          </a:xfrm>
          <a:prstGeom prst="rect">
            <a:avLst/>
          </a:prstGeom>
        </p:spPr>
      </p:pic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EAA0F4E1-068F-35E9-2E23-B403C9665A51}"/>
              </a:ext>
            </a:extLst>
          </p:cNvPr>
          <p:cNvSpPr/>
          <p:nvPr/>
        </p:nvSpPr>
        <p:spPr>
          <a:xfrm>
            <a:off x="967239" y="5277713"/>
            <a:ext cx="10257521" cy="590849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B8004E-90FB-E29D-61EB-C075D84FF068}"/>
              </a:ext>
            </a:extLst>
          </p:cNvPr>
          <p:cNvSpPr/>
          <p:nvPr/>
        </p:nvSpPr>
        <p:spPr>
          <a:xfrm>
            <a:off x="985985" y="5296459"/>
            <a:ext cx="10220028" cy="55335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3B77C7-9863-10DF-490D-5FFAAA146ED2}"/>
              </a:ext>
            </a:extLst>
          </p:cNvPr>
          <p:cNvSpPr txBox="1"/>
          <p:nvPr/>
        </p:nvSpPr>
        <p:spPr>
          <a:xfrm>
            <a:off x="1169303" y="5382099"/>
            <a:ext cx="8904104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>
                <a:solidFill>
                  <a:srgbClr val="000000"/>
                </a:solidFill>
                <a:latin typeface="Latin Modern Sans"/>
              </a:rPr>
              <a:t>Both Hard- and Soft-BC PINN predictions track the FEM reference across the domain, including the mushy zone near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9C133-190D-9ACE-E23E-87459A69D946}"/>
              </a:ext>
            </a:extLst>
          </p:cNvPr>
          <p:cNvSpPr txBox="1"/>
          <p:nvPr/>
        </p:nvSpPr>
        <p:spPr>
          <a:xfrm>
            <a:off x="1169303" y="5593912"/>
            <a:ext cx="926536" cy="2269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75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475" i="1">
                <a:solidFill>
                  <a:srgbClr val="000000"/>
                </a:solidFill>
                <a:latin typeface="CMSY7"/>
              </a:rPr>
              <a:t> ≈</a:t>
            </a:r>
            <a:r>
              <a:rPr sz="1475">
                <a:solidFill>
                  <a:srgbClr val="000000"/>
                </a:solidFill>
                <a:latin typeface="Latin Modern Sans"/>
              </a:rPr>
              <a:t> 0–0</a:t>
            </a:r>
            <a:r>
              <a:rPr sz="1475" i="1">
                <a:solidFill>
                  <a:srgbClr val="000000"/>
                </a:solidFill>
                <a:latin typeface="Cambria Math"/>
              </a:rPr>
              <a:t>.</a:t>
            </a:r>
            <a:r>
              <a:rPr sz="1475">
                <a:solidFill>
                  <a:srgbClr val="000000"/>
                </a:solidFill>
                <a:latin typeface="Latin Modern Sans"/>
              </a:rPr>
              <a:t>1 m.</a:t>
            </a:r>
          </a:p>
        </p:txBody>
      </p:sp>
    </p:spTree>
    <p:extLst>
      <p:ext uri="{BB962C8B-B14F-4D97-AF65-F5344CB8AC3E}">
        <p14:creationId xmlns:p14="http://schemas.microsoft.com/office/powerpoint/2010/main" val="361489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6E58-8C19-29BE-8C57-BD401EE0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Solid--Liquid Interface Tracking- PINN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632DD-7B62-8542-B1AD-0854D8AB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0B1CD-3CFD-1CFE-050D-997E0012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1" y="1835895"/>
            <a:ext cx="4877749" cy="40993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2BB10E-0C4B-C44C-51BF-C65C17BFCF31}"/>
              </a:ext>
            </a:extLst>
          </p:cNvPr>
          <p:cNvSpPr txBox="1"/>
          <p:nvPr/>
        </p:nvSpPr>
        <p:spPr>
          <a:xfrm>
            <a:off x="891251" y="1293891"/>
            <a:ext cx="370146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Our PINN model interface prediction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25C4E-52A8-BACC-4DE8-7BB356A63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362" y="1990759"/>
            <a:ext cx="5674438" cy="40188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7959FD-8094-6899-F6E0-789DE03AB274}"/>
              </a:ext>
            </a:extLst>
          </p:cNvPr>
          <p:cNvSpPr txBox="1"/>
          <p:nvPr/>
        </p:nvSpPr>
        <p:spPr>
          <a:xfrm>
            <a:off x="6697373" y="1399082"/>
            <a:ext cx="426135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Zhu et al PINN model interface prediction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D88C8-8FD0-2778-A1C0-BD0807C3C443}"/>
              </a:ext>
            </a:extLst>
          </p:cNvPr>
          <p:cNvSpPr txBox="1"/>
          <p:nvPr/>
        </p:nvSpPr>
        <p:spPr>
          <a:xfrm>
            <a:off x="1375090" y="5935280"/>
            <a:ext cx="596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>
                <a:latin typeface="FranklinGothic-Book"/>
              </a:rPr>
              <a:t>Fig: PINN interface at </a:t>
            </a:r>
            <a:r>
              <a:rPr lang="en-US" sz="1800" b="0" i="1" u="none" strike="noStrike" baseline="0">
                <a:latin typeface="FranklinGothic-BookItalic"/>
              </a:rPr>
              <a:t>N </a:t>
            </a:r>
            <a:r>
              <a:rPr lang="en-US" sz="1800" b="0" i="0" u="none" strike="noStrike" baseline="0">
                <a:latin typeface="CMR8"/>
              </a:rPr>
              <a:t>= 50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100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150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200 </a:t>
            </a:r>
            <a:r>
              <a:rPr lang="en-US" sz="1800" b="0" i="0" u="none" strike="noStrike" baseline="0">
                <a:latin typeface="FranklinGothic-Book"/>
              </a:rPr>
              <a:t>collocation points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30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6FA0-F8AB-F14A-9C11-BBABA045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26DF-5C10-2157-1F57-09D94A12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FEM mesh study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35803-FC7C-F51E-49A6-B9D4119B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46B45-5F70-08E0-FAD9-B862431D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5" y="1727200"/>
            <a:ext cx="5076695" cy="4266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B99E18-A677-6622-4860-76BDCA89F6A6}"/>
              </a:ext>
            </a:extLst>
          </p:cNvPr>
          <p:cNvSpPr txBox="1"/>
          <p:nvPr/>
        </p:nvSpPr>
        <p:spPr>
          <a:xfrm>
            <a:off x="891251" y="1293891"/>
            <a:ext cx="3318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Our FEM temperature prediction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C1A37-6556-2464-6076-E388F02D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26" y="1663223"/>
            <a:ext cx="6019974" cy="4266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4C2645-CBFC-8339-FB08-FBFC6F9C8ABB}"/>
              </a:ext>
            </a:extLst>
          </p:cNvPr>
          <p:cNvSpPr txBox="1"/>
          <p:nvPr/>
        </p:nvSpPr>
        <p:spPr>
          <a:xfrm>
            <a:off x="6726901" y="1358263"/>
            <a:ext cx="3821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Zhu et al FEM temperature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355F5-70BB-FED1-B076-31A138035F0F}"/>
              </a:ext>
            </a:extLst>
          </p:cNvPr>
          <p:cNvSpPr txBox="1"/>
          <p:nvPr/>
        </p:nvSpPr>
        <p:spPr>
          <a:xfrm>
            <a:off x="2515062" y="5993783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FranklinGothic-Demi"/>
              </a:rPr>
              <a:t>Fig:</a:t>
            </a:r>
            <a:r>
              <a:rPr lang="en-US" sz="1800" b="0" i="0" u="none" strike="noStrike" baseline="0">
                <a:latin typeface="FranklinGothic-Demi"/>
              </a:rPr>
              <a:t> </a:t>
            </a:r>
            <a:r>
              <a:rPr lang="en-US" sz="1800" b="0" i="0" u="none" strike="noStrike" baseline="0">
                <a:latin typeface="FranklinGothic-Book"/>
              </a:rPr>
              <a:t>FEM interface </a:t>
            </a:r>
            <a:r>
              <a:rPr lang="en-US" sz="1800" b="0" i="1" u="none" strike="noStrike" baseline="0">
                <a:latin typeface="FranklinGothic-BookItalic"/>
              </a:rPr>
              <a:t>s</a:t>
            </a:r>
            <a:r>
              <a:rPr lang="en-US" sz="1800" b="0" i="0" u="none" strike="noStrike" baseline="0">
                <a:latin typeface="CMR8"/>
              </a:rPr>
              <a:t>(</a:t>
            </a:r>
            <a:r>
              <a:rPr lang="en-US" sz="1800" b="0" i="1" u="none" strike="noStrike" baseline="0">
                <a:latin typeface="FranklinGothic-BookItalic"/>
              </a:rPr>
              <a:t>t</a:t>
            </a:r>
            <a:r>
              <a:rPr lang="en-US" sz="1800" b="0" i="0" u="none" strike="noStrike" baseline="0">
                <a:latin typeface="CMR8"/>
              </a:rPr>
              <a:t>) </a:t>
            </a:r>
            <a:r>
              <a:rPr lang="en-US" sz="1800" b="0" i="0" u="none" strike="noStrike" baseline="0">
                <a:latin typeface="FranklinGothic-Book"/>
              </a:rPr>
              <a:t>at </a:t>
            </a:r>
            <a:r>
              <a:rPr lang="en-US" sz="1800" b="0" i="1" u="none" strike="noStrike" baseline="0" err="1">
                <a:latin typeface="FranklinGothic-BookItalic"/>
              </a:rPr>
              <a:t>N</a:t>
            </a:r>
            <a:r>
              <a:rPr lang="en-US" sz="800" b="0" i="1" u="none" strike="noStrike" baseline="0" err="1">
                <a:latin typeface="FranklinGothic-BookItalic"/>
              </a:rPr>
              <a:t>x</a:t>
            </a:r>
            <a:r>
              <a:rPr lang="en-US" sz="800" b="0" i="1" u="none" strike="noStrike" baseline="0">
                <a:latin typeface="FranklinGothic-BookItalic"/>
              </a:rPr>
              <a:t> </a:t>
            </a:r>
            <a:r>
              <a:rPr lang="en-US" sz="1800" b="0" i="0" u="none" strike="noStrike" baseline="0">
                <a:latin typeface="CMR8"/>
              </a:rPr>
              <a:t>= 50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100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150</a:t>
            </a:r>
            <a:r>
              <a:rPr lang="en-US" sz="1800" b="0" i="1" u="none" strike="noStrike" baseline="0">
                <a:latin typeface="CMMI8"/>
              </a:rPr>
              <a:t>, </a:t>
            </a:r>
            <a:r>
              <a:rPr lang="en-US" sz="1800" b="0" i="0" u="none" strike="noStrike" baseline="0">
                <a:latin typeface="CMR8"/>
              </a:rPr>
              <a:t>200 </a:t>
            </a:r>
            <a:r>
              <a:rPr lang="en-US" sz="1800" b="0" i="0" u="none" strike="noStrike" baseline="0">
                <a:latin typeface="FranklinGothic-Book"/>
              </a:rPr>
              <a:t>(</a:t>
            </a:r>
            <a:r>
              <a:rPr lang="en-US" sz="1800" b="0" i="1" u="none" strike="noStrike" baseline="0" err="1">
                <a:latin typeface="FranklinGothic-BookItalic"/>
              </a:rPr>
              <a:t>N</a:t>
            </a:r>
            <a:r>
              <a:rPr lang="en-US" sz="800" b="0" i="1" u="none" strike="noStrike" baseline="0" err="1">
                <a:latin typeface="FranklinGothic-BookItalic"/>
              </a:rPr>
              <a:t>t</a:t>
            </a:r>
            <a:r>
              <a:rPr lang="en-US" sz="800" b="0" i="1" u="none" strike="noStrike" baseline="0">
                <a:latin typeface="FranklinGothic-BookItalic"/>
              </a:rPr>
              <a:t> </a:t>
            </a:r>
            <a:r>
              <a:rPr lang="en-US" sz="1800" b="0" i="0" u="none" strike="noStrike" baseline="0">
                <a:latin typeface="CMR8"/>
              </a:rPr>
              <a:t>= </a:t>
            </a:r>
            <a:r>
              <a:rPr lang="en-US" sz="1800" b="0" i="1" u="none" strike="noStrike" baseline="0" err="1">
                <a:latin typeface="FranklinGothic-BookItalic"/>
              </a:rPr>
              <a:t>N</a:t>
            </a:r>
            <a:r>
              <a:rPr lang="en-US" sz="800" b="0" i="1" u="none" strike="noStrike" baseline="0" err="1">
                <a:latin typeface="FranklinGothic-BookItalic"/>
              </a:rPr>
              <a:t>x</a:t>
            </a:r>
            <a:r>
              <a:rPr lang="en-US" sz="1800" b="0" i="0" u="none" strike="noStrike" baseline="0">
                <a:latin typeface="FranklinGothic-Book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37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2336-ED1F-001E-B147-8947F72E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5EE8-EAD6-B921-1AC2-95B2BD8E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latin typeface="Latin Modern Sans"/>
              </a:rPr>
              <a:t>Results —</a:t>
            </a:r>
            <a:r>
              <a:rPr lang="en-US" i="1">
                <a:solidFill>
                  <a:srgbClr val="000000"/>
                </a:solidFill>
                <a:latin typeface="Latin Modern Sans"/>
              </a:rPr>
              <a:t> L</a:t>
            </a:r>
            <a:r>
              <a:rPr lang="en-US" sz="2400">
                <a:solidFill>
                  <a:srgbClr val="000000"/>
                </a:solidFill>
                <a:latin typeface="Latin Modern Sans"/>
              </a:rPr>
              <a:t>2</a:t>
            </a:r>
            <a:r>
              <a:rPr lang="en-US" b="1">
                <a:solidFill>
                  <a:srgbClr val="000000"/>
                </a:solidFill>
                <a:latin typeface="Latin Modern Sans"/>
              </a:rPr>
              <a:t> Resolution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223BA-BDD1-6C8D-9976-166ADDB2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5793" y="6244609"/>
            <a:ext cx="1059632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17</a:t>
            </a:fld>
            <a:endParaRPr 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895A663F-290F-76E7-0D3F-9BAB6EE6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72EBDEC-403A-ED22-381F-CC1F317F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F8388060-B3C2-4570-C5E7-D5566D595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880C997-541D-B298-27FE-300A2E13B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DFF15CD-7E27-5AC2-ACC6-E4310F466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B925A16-30D3-339F-C5B3-58ED3090B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319390BE-186B-F84D-AACB-168C64B4F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EAD0590C-C33D-70AB-715C-55710D825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B2C7A0AA-0323-37DB-A34C-E05B1B736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297584EF-03F5-8C8A-8858-A4ACDC2F9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A180565-4272-D0A4-DCA7-A933DD5C5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F5EF8C9B-ED82-0EB7-A06D-AF93C749C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>
            <a:extLst>
              <a:ext uri="{FF2B5EF4-FFF2-40B4-BE49-F238E27FC236}">
                <a16:creationId xmlns:a16="http://schemas.microsoft.com/office/drawing/2014/main" id="{6F0F1E9D-E654-B88C-EDA1-4C1C5EBA0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A677EA72-28B2-FA1A-7543-55568DB04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B3B5237C-A277-7B93-F9DC-3999DEF30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58FF43F0-3689-D9A8-D2DC-77E2D832E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A03E1793-9D80-E3AC-26D1-45A6A541A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47F06C42-5DA7-C9D2-E365-3A1A15D89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5C4F87AD-1D07-7800-4C24-C0BAE19F8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30030748-4CB3-AF01-F122-33ECA4CF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>
            <a:extLst>
              <a:ext uri="{FF2B5EF4-FFF2-40B4-BE49-F238E27FC236}">
                <a16:creationId xmlns:a16="http://schemas.microsoft.com/office/drawing/2014/main" id="{D8D8471B-A2E5-2DD9-3DB4-6C02B8E2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A0F07CDC-DE52-9A21-B21D-D87E8F5CD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507C5D72-9FAA-B6B6-3D96-CB4D3E7C1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087E71A4-7420-4FDF-BC0F-E4D32F449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76D0BCFD-B496-AC3A-DA0B-DC3AE9178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0932A9EF-27E2-DADC-437F-8C331012D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B42B244B-E943-AEEF-E232-F3AD4C959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FDEBD68D-6A3B-62DD-EAB6-8D735E609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617C8071-1EEA-26C4-6E08-20269CFD7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388CEF68-8F0E-2FF5-AF76-79E1C9099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EA219441-1C82-C8A5-372A-3161E49A3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59669519-FA65-3E91-03A3-FF812EE3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07448765-4FC4-3F8E-419D-E230EC4DB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60AB5544-F782-49B7-EACB-13BC18EF4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4FDB26FD-0BFC-BC8F-E1C4-99283FBA2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2ADE9210-54FF-DBBB-A981-EFD1B1217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43">
            <a:extLst>
              <a:ext uri="{FF2B5EF4-FFF2-40B4-BE49-F238E27FC236}">
                <a16:creationId xmlns:a16="http://schemas.microsoft.com/office/drawing/2014/main" id="{89F266B0-D984-5337-CE88-004805EC6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FA592AD6-A72C-72A4-CF59-B4623EF91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45">
            <a:extLst>
              <a:ext uri="{FF2B5EF4-FFF2-40B4-BE49-F238E27FC236}">
                <a16:creationId xmlns:a16="http://schemas.microsoft.com/office/drawing/2014/main" id="{2CCA828B-300D-CFDC-A370-228949FE0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88DF6473-0777-7231-F363-9E3054AED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47">
            <a:extLst>
              <a:ext uri="{FF2B5EF4-FFF2-40B4-BE49-F238E27FC236}">
                <a16:creationId xmlns:a16="http://schemas.microsoft.com/office/drawing/2014/main" id="{B4D51B6D-FBDD-AD97-4B00-17F60F7EB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>
            <a:extLst>
              <a:ext uri="{FF2B5EF4-FFF2-40B4-BE49-F238E27FC236}">
                <a16:creationId xmlns:a16="http://schemas.microsoft.com/office/drawing/2014/main" id="{09F35F01-5FF8-5C5E-FCB6-EFEA5C004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or 3">
            <a:extLst>
              <a:ext uri="{FF2B5EF4-FFF2-40B4-BE49-F238E27FC236}">
                <a16:creationId xmlns:a16="http://schemas.microsoft.com/office/drawing/2014/main" id="{898FBB3A-29D9-6F5B-2EB2-6EF73E66DB50}"/>
              </a:ext>
            </a:extLst>
          </p:cNvPr>
          <p:cNvCxnSpPr/>
          <p:nvPr/>
        </p:nvCxnSpPr>
        <p:spPr>
          <a:xfrm>
            <a:off x="584534" y="1499693"/>
            <a:ext cx="11022932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B21BA0B-0AF3-6609-2BE7-D6FF587A74AD}"/>
              </a:ext>
            </a:extLst>
          </p:cNvPr>
          <p:cNvCxnSpPr/>
          <p:nvPr/>
        </p:nvCxnSpPr>
        <p:spPr>
          <a:xfrm>
            <a:off x="584534" y="1985540"/>
            <a:ext cx="11022932" cy="0"/>
          </a:xfrm>
          <a:prstGeom prst="line">
            <a:avLst/>
          </a:prstGeom>
          <a:ln w="632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620CA4E-A2B3-662F-99E0-33C2C21333F5}"/>
              </a:ext>
            </a:extLst>
          </p:cNvPr>
          <p:cNvCxnSpPr/>
          <p:nvPr/>
        </p:nvCxnSpPr>
        <p:spPr>
          <a:xfrm>
            <a:off x="584534" y="3501760"/>
            <a:ext cx="11022932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78966C-CDB8-6BE1-4006-5E7721552375}"/>
              </a:ext>
            </a:extLst>
          </p:cNvPr>
          <p:cNvSpPr txBox="1"/>
          <p:nvPr/>
        </p:nvSpPr>
        <p:spPr>
          <a:xfrm>
            <a:off x="584534" y="1659504"/>
            <a:ext cx="1219949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b="1">
                <a:solidFill>
                  <a:srgbClr val="000000"/>
                </a:solidFill>
                <a:latin typeface="Latin Modern Sans"/>
              </a:rPr>
              <a:t>Resolution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79C8E-1BAB-51AA-607F-FED1902396B9}"/>
              </a:ext>
            </a:extLst>
          </p:cNvPr>
          <p:cNvSpPr txBox="1"/>
          <p:nvPr/>
        </p:nvSpPr>
        <p:spPr>
          <a:xfrm>
            <a:off x="2274511" y="1662357"/>
            <a:ext cx="1114088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650" b="1">
                <a:solidFill>
                  <a:srgbClr val="000000"/>
                </a:solidFill>
                <a:latin typeface="Latin Modern Sans"/>
              </a:rPr>
              <a:t>FEM</a:t>
            </a:r>
            <a:r>
              <a:rPr lang="en-US" sz="1650" i="1">
                <a:solidFill>
                  <a:srgbClr val="000000"/>
                </a:solidFill>
                <a:latin typeface="Latin Modern Sans"/>
              </a:rPr>
              <a:t> L</a:t>
            </a:r>
            <a:r>
              <a:rPr lang="en-US" sz="1250">
                <a:solidFill>
                  <a:srgbClr val="000000"/>
                </a:solidFill>
                <a:latin typeface="Latin Modern Sans"/>
              </a:rPr>
              <a:t>2</a:t>
            </a:r>
            <a:r>
              <a:rPr lang="en-US" sz="1650" b="1">
                <a:solidFill>
                  <a:srgbClr val="000000"/>
                </a:solidFill>
                <a:latin typeface="Latin Modern Sans"/>
              </a:rPr>
              <a:t> (Our)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2C97A-A6AA-F4B2-38B5-A13024BAD3CA}"/>
              </a:ext>
            </a:extLst>
          </p:cNvPr>
          <p:cNvSpPr txBox="1"/>
          <p:nvPr/>
        </p:nvSpPr>
        <p:spPr>
          <a:xfrm>
            <a:off x="4192627" y="1659504"/>
            <a:ext cx="1325684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b="1">
                <a:solidFill>
                  <a:srgbClr val="000000"/>
                </a:solidFill>
                <a:latin typeface="Latin Modern Sans"/>
              </a:rPr>
              <a:t>FEM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L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b="1">
                <a:solidFill>
                  <a:srgbClr val="000000"/>
                </a:solidFill>
                <a:latin typeface="Latin Modern Sans"/>
              </a:rPr>
              <a:t> (paper)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D4985-887E-DA49-4D26-D137DA03CC66}"/>
              </a:ext>
            </a:extLst>
          </p:cNvPr>
          <p:cNvSpPr txBox="1"/>
          <p:nvPr/>
        </p:nvSpPr>
        <p:spPr>
          <a:xfrm>
            <a:off x="6103700" y="1659504"/>
            <a:ext cx="1299010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b="1">
                <a:solidFill>
                  <a:srgbClr val="000000"/>
                </a:solidFill>
                <a:latin typeface="Latin Modern Sans"/>
              </a:rPr>
              <a:t>PINN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L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b="1">
                <a:solidFill>
                  <a:srgbClr val="000000"/>
                </a:solidFill>
                <a:latin typeface="Latin Modern Sans"/>
              </a:rPr>
              <a:t> (Hard)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2C295-622B-D637-10DE-FDE5ADFDA636}"/>
              </a:ext>
            </a:extLst>
          </p:cNvPr>
          <p:cNvSpPr txBox="1"/>
          <p:nvPr/>
        </p:nvSpPr>
        <p:spPr>
          <a:xfrm>
            <a:off x="8025959" y="1659504"/>
            <a:ext cx="1229504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b="1">
                <a:solidFill>
                  <a:srgbClr val="000000"/>
                </a:solidFill>
                <a:latin typeface="Latin Modern Sans"/>
              </a:rPr>
              <a:t>PINN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L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b="1">
                <a:solidFill>
                  <a:srgbClr val="000000"/>
                </a:solidFill>
                <a:latin typeface="Latin Modern Sans"/>
              </a:rPr>
              <a:t> (Soft)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99CF81-D9F9-A836-E0DA-99BA30762FE8}"/>
              </a:ext>
            </a:extLst>
          </p:cNvPr>
          <p:cNvSpPr txBox="1"/>
          <p:nvPr/>
        </p:nvSpPr>
        <p:spPr>
          <a:xfrm>
            <a:off x="9879479" y="1659504"/>
            <a:ext cx="136992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∆</a:t>
            </a:r>
            <a:r>
              <a:rPr sz="1687" b="1">
                <a:solidFill>
                  <a:srgbClr val="000000"/>
                </a:solidFill>
                <a:latin typeface="Latin Modern Sans"/>
              </a:rPr>
              <a:t> FEM vs. PINN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77499-DBFD-A5AA-06EB-80B4FD026DE6}"/>
              </a:ext>
            </a:extLst>
          </p:cNvPr>
          <p:cNvSpPr txBox="1"/>
          <p:nvPr/>
        </p:nvSpPr>
        <p:spPr>
          <a:xfrm>
            <a:off x="584533" y="2141318"/>
            <a:ext cx="21800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6CE51-E754-5C85-3BA1-A273577355F7}"/>
              </a:ext>
            </a:extLst>
          </p:cNvPr>
          <p:cNvSpPr txBox="1"/>
          <p:nvPr/>
        </p:nvSpPr>
        <p:spPr>
          <a:xfrm>
            <a:off x="2274275" y="2105477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3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6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C3AF0-68CE-AFC8-4FB8-5DA1F5BC3B52}"/>
              </a:ext>
            </a:extLst>
          </p:cNvPr>
          <p:cNvSpPr txBox="1"/>
          <p:nvPr/>
        </p:nvSpPr>
        <p:spPr>
          <a:xfrm>
            <a:off x="4192628" y="2105477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3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7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11EDB-37D1-3439-9CE2-10B7E9A31E38}"/>
              </a:ext>
            </a:extLst>
          </p:cNvPr>
          <p:cNvSpPr txBox="1"/>
          <p:nvPr/>
        </p:nvSpPr>
        <p:spPr>
          <a:xfrm>
            <a:off x="6103621" y="2105477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E382C-3860-C09C-3F20-18BC32CC5FBE}"/>
              </a:ext>
            </a:extLst>
          </p:cNvPr>
          <p:cNvSpPr txBox="1"/>
          <p:nvPr/>
        </p:nvSpPr>
        <p:spPr>
          <a:xfrm>
            <a:off x="8025930" y="2105477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4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40B2A0-B59D-0E13-5954-81858AB137CC}"/>
              </a:ext>
            </a:extLst>
          </p:cNvPr>
          <p:cNvSpPr txBox="1"/>
          <p:nvPr/>
        </p:nvSpPr>
        <p:spPr>
          <a:xfrm>
            <a:off x="9879478" y="2138541"/>
            <a:ext cx="112691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FEM</a:t>
            </a:r>
            <a:r>
              <a:rPr sz="1687" i="1">
                <a:solidFill>
                  <a:srgbClr val="000000"/>
                </a:solidFill>
                <a:latin typeface="CMSY8"/>
              </a:rPr>
              <a:t> ≫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PINN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71A18-6F68-34CC-9614-EC889C42B3D1}"/>
              </a:ext>
            </a:extLst>
          </p:cNvPr>
          <p:cNvSpPr txBox="1"/>
          <p:nvPr/>
        </p:nvSpPr>
        <p:spPr>
          <a:xfrm>
            <a:off x="584534" y="2484776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9EA0F5-1ECA-B0AC-9D1E-6CFB5AE13360}"/>
              </a:ext>
            </a:extLst>
          </p:cNvPr>
          <p:cNvSpPr txBox="1"/>
          <p:nvPr/>
        </p:nvSpPr>
        <p:spPr>
          <a:xfrm>
            <a:off x="2274275" y="2448935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9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B627FA-0840-5890-6CE2-7E4D166567C8}"/>
              </a:ext>
            </a:extLst>
          </p:cNvPr>
          <p:cNvSpPr txBox="1"/>
          <p:nvPr/>
        </p:nvSpPr>
        <p:spPr>
          <a:xfrm>
            <a:off x="4192628" y="2448935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9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3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51F46-E969-3511-AC50-AF616E5EE213}"/>
              </a:ext>
            </a:extLst>
          </p:cNvPr>
          <p:cNvSpPr txBox="1"/>
          <p:nvPr/>
        </p:nvSpPr>
        <p:spPr>
          <a:xfrm>
            <a:off x="6103621" y="2448935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0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9D44C-BEB9-264F-2122-AF411834914F}"/>
              </a:ext>
            </a:extLst>
          </p:cNvPr>
          <p:cNvSpPr txBox="1"/>
          <p:nvPr/>
        </p:nvSpPr>
        <p:spPr>
          <a:xfrm>
            <a:off x="8025930" y="2448935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CD5A68-28D6-7B1D-C6B6-B9F588801BDE}"/>
              </a:ext>
            </a:extLst>
          </p:cNvPr>
          <p:cNvSpPr txBox="1"/>
          <p:nvPr/>
        </p:nvSpPr>
        <p:spPr>
          <a:xfrm>
            <a:off x="9879478" y="2484776"/>
            <a:ext cx="109485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FEM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 &gt;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PINN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3445B2-2119-3DD6-8B6B-81036459F271}"/>
              </a:ext>
            </a:extLst>
          </p:cNvPr>
          <p:cNvSpPr txBox="1"/>
          <p:nvPr/>
        </p:nvSpPr>
        <p:spPr>
          <a:xfrm>
            <a:off x="584532" y="2828234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150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C61DD-6645-A35A-60A6-3D45C092CB9B}"/>
              </a:ext>
            </a:extLst>
          </p:cNvPr>
          <p:cNvSpPr txBox="1"/>
          <p:nvPr/>
        </p:nvSpPr>
        <p:spPr>
          <a:xfrm>
            <a:off x="2274275" y="2792393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4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B17F2E-918C-3249-AC42-0FA7D547CB25}"/>
              </a:ext>
            </a:extLst>
          </p:cNvPr>
          <p:cNvSpPr txBox="1"/>
          <p:nvPr/>
        </p:nvSpPr>
        <p:spPr>
          <a:xfrm>
            <a:off x="4192653" y="2792393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4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66771-07EB-3F06-C0BA-18D6649AA553}"/>
              </a:ext>
            </a:extLst>
          </p:cNvPr>
          <p:cNvSpPr txBox="1"/>
          <p:nvPr/>
        </p:nvSpPr>
        <p:spPr>
          <a:xfrm>
            <a:off x="6103621" y="2792393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0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1B860E-1E47-2738-806B-9E8E18CD8824}"/>
              </a:ext>
            </a:extLst>
          </p:cNvPr>
          <p:cNvSpPr txBox="1"/>
          <p:nvPr/>
        </p:nvSpPr>
        <p:spPr>
          <a:xfrm>
            <a:off x="8025930" y="2792393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A016A3-8AF3-66F7-015D-BB6915EAC0D1}"/>
              </a:ext>
            </a:extLst>
          </p:cNvPr>
          <p:cNvSpPr txBox="1"/>
          <p:nvPr/>
        </p:nvSpPr>
        <p:spPr>
          <a:xfrm>
            <a:off x="9879476" y="2828234"/>
            <a:ext cx="109485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FEM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 &gt;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PINN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52AD1F-9362-3B58-0B4C-31B23202541E}"/>
              </a:ext>
            </a:extLst>
          </p:cNvPr>
          <p:cNvSpPr txBox="1"/>
          <p:nvPr/>
        </p:nvSpPr>
        <p:spPr>
          <a:xfrm>
            <a:off x="584532" y="3171692"/>
            <a:ext cx="32701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7B6226-BF8B-3944-9259-5BE0F1703554}"/>
              </a:ext>
            </a:extLst>
          </p:cNvPr>
          <p:cNvSpPr txBox="1"/>
          <p:nvPr/>
        </p:nvSpPr>
        <p:spPr>
          <a:xfrm>
            <a:off x="2274272" y="3135851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3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4602EB-25D1-4C63-B1E7-5E566B6E1CF0}"/>
              </a:ext>
            </a:extLst>
          </p:cNvPr>
          <p:cNvSpPr txBox="1"/>
          <p:nvPr/>
        </p:nvSpPr>
        <p:spPr>
          <a:xfrm>
            <a:off x="4192653" y="3135851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4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0EDACC-819F-F9ED-026A-3F7BEBC0C43F}"/>
              </a:ext>
            </a:extLst>
          </p:cNvPr>
          <p:cNvSpPr txBox="1"/>
          <p:nvPr/>
        </p:nvSpPr>
        <p:spPr>
          <a:xfrm>
            <a:off x="6103619" y="3135851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0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9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AD957E-D6CD-B7B8-8496-0834E39399DC}"/>
              </a:ext>
            </a:extLst>
          </p:cNvPr>
          <p:cNvSpPr txBox="1"/>
          <p:nvPr/>
        </p:nvSpPr>
        <p:spPr>
          <a:xfrm>
            <a:off x="8025930" y="3135851"/>
            <a:ext cx="75020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.</a:t>
            </a:r>
            <a:r>
              <a:rPr sz="1687">
                <a:solidFill>
                  <a:srgbClr val="000000"/>
                </a:solidFill>
                <a:latin typeface="Latin Modern Sans"/>
              </a:rPr>
              <a:t>0</a:t>
            </a:r>
            <a:r>
              <a:rPr sz="1687" i="1">
                <a:solidFill>
                  <a:srgbClr val="000000"/>
                </a:solidFill>
                <a:latin typeface="CMSY8"/>
              </a:rPr>
              <a:t>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10</a:t>
            </a:r>
            <a:r>
              <a:rPr sz="1264" i="1">
                <a:solidFill>
                  <a:srgbClr val="000000"/>
                </a:solidFill>
                <a:latin typeface="CMSY6"/>
              </a:rPr>
              <a:t>−</a:t>
            </a:r>
            <a:r>
              <a:rPr sz="1264">
                <a:solidFill>
                  <a:srgbClr val="000000"/>
                </a:solidFill>
                <a:latin typeface="Latin Modern Sans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ED98F2-9D5B-E019-647F-D435B810551B}"/>
              </a:ext>
            </a:extLst>
          </p:cNvPr>
          <p:cNvSpPr txBox="1"/>
          <p:nvPr/>
        </p:nvSpPr>
        <p:spPr>
          <a:xfrm>
            <a:off x="9879476" y="3168915"/>
            <a:ext cx="1041952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FEM</a:t>
            </a:r>
            <a:r>
              <a:rPr sz="1687" i="1">
                <a:solidFill>
                  <a:srgbClr val="000000"/>
                </a:solidFill>
                <a:latin typeface="CMSY8"/>
              </a:rPr>
              <a:t> ≈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PINN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0F9348-622B-8D63-5498-3807E185D2B0}"/>
              </a:ext>
            </a:extLst>
          </p:cNvPr>
          <p:cNvSpPr txBox="1"/>
          <p:nvPr/>
        </p:nvSpPr>
        <p:spPr>
          <a:xfrm>
            <a:off x="5158969" y="3699111"/>
            <a:ext cx="1719638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Key observations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07E8AD-6926-2988-683D-A28AEA16744E}"/>
              </a:ext>
            </a:extLst>
          </p:cNvPr>
          <p:cNvSpPr txBox="1"/>
          <p:nvPr/>
        </p:nvSpPr>
        <p:spPr>
          <a:xfrm>
            <a:off x="838699" y="4096433"/>
            <a:ext cx="7450479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900">
                <a:solidFill>
                  <a:srgbClr val="000000"/>
                </a:solidFill>
                <a:ea typeface="+mn-lt"/>
                <a:cs typeface="+mn-lt"/>
              </a:rPr>
              <a:t>FEM error scales as</a:t>
            </a:r>
            <a:r>
              <a:rPr lang="en-US" sz="1900" i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900" i="1" err="1">
                <a:solidFill>
                  <a:srgbClr val="000000"/>
                </a:solidFill>
                <a:ea typeface="+mn-lt"/>
                <a:cs typeface="+mn-lt"/>
              </a:rPr>
              <a:t>N</a:t>
            </a:r>
            <a:r>
              <a:rPr lang="en-US" sz="1300" i="1" err="1">
                <a:solidFill>
                  <a:srgbClr val="000000"/>
                </a:solidFill>
                <a:ea typeface="+mn-lt"/>
                <a:cs typeface="+mn-lt"/>
              </a:rPr>
              <a:t>x</a:t>
            </a:r>
            <a:r>
              <a:rPr lang="en-US" sz="1850">
                <a:solidFill>
                  <a:srgbClr val="000000"/>
                </a:solidFill>
                <a:latin typeface="Latin Modern Sans"/>
              </a:rPr>
              <a:t>— requires</a:t>
            </a:r>
            <a:r>
              <a:rPr lang="en-US" sz="1850" i="1">
                <a:solidFill>
                  <a:srgbClr val="000000"/>
                </a:solidFill>
                <a:latin typeface="Latin Modern Sans"/>
              </a:rPr>
              <a:t> </a:t>
            </a:r>
            <a:r>
              <a:rPr lang="en-US" sz="1850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lang="en-US" sz="1250" i="1" err="1">
                <a:solidFill>
                  <a:srgbClr val="000000"/>
                </a:solidFill>
                <a:latin typeface="Latin Modern Sans"/>
              </a:rPr>
              <a:t>x</a:t>
            </a:r>
            <a:r>
              <a:rPr lang="en-US" sz="1850" i="1">
                <a:solidFill>
                  <a:srgbClr val="000000"/>
                </a:solidFill>
                <a:latin typeface="CMSY9"/>
              </a:rPr>
              <a:t> ≥</a:t>
            </a:r>
            <a:r>
              <a:rPr lang="en-US" sz="1850">
                <a:solidFill>
                  <a:srgbClr val="000000"/>
                </a:solidFill>
                <a:latin typeface="Latin Modern Sans"/>
              </a:rPr>
              <a:t> 200 to match the PINN accuracy.</a:t>
            </a:r>
            <a:endParaRPr lang="en-US" sz="18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AC9E5E-132A-D1A3-1F08-84E6F66AD5BF}"/>
              </a:ext>
            </a:extLst>
          </p:cNvPr>
          <p:cNvSpPr txBox="1"/>
          <p:nvPr/>
        </p:nvSpPr>
        <p:spPr>
          <a:xfrm>
            <a:off x="841515" y="4448982"/>
            <a:ext cx="7970580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 b="1">
                <a:solidFill>
                  <a:srgbClr val="000000"/>
                </a:solidFill>
                <a:latin typeface="Latin Modern Sans"/>
              </a:rPr>
              <a:t>PINN error is set at training time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— resolution-independent, no post-hoc tuning.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D9DC48-F873-8C82-F240-E01D1ECCDFDC}"/>
              </a:ext>
            </a:extLst>
          </p:cNvPr>
          <p:cNvSpPr txBox="1"/>
          <p:nvPr/>
        </p:nvSpPr>
        <p:spPr>
          <a:xfrm>
            <a:off x="841515" y="4820766"/>
            <a:ext cx="7983852" cy="29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96">
                <a:solidFill>
                  <a:srgbClr val="000000"/>
                </a:solidFill>
                <a:latin typeface="Latin Modern Sans"/>
              </a:rPr>
              <a:t>At</a:t>
            </a:r>
            <a:r>
              <a:rPr sz="1896" i="1">
                <a:solidFill>
                  <a:srgbClr val="000000"/>
                </a:solidFill>
                <a:latin typeface="Latin Modern Sans"/>
              </a:rPr>
              <a:t> N</a:t>
            </a:r>
            <a:r>
              <a:rPr sz="1264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896" i="1">
                <a:solidFill>
                  <a:srgbClr val="000000"/>
                </a:solidFill>
                <a:latin typeface="CMSY9"/>
              </a:rPr>
              <a:t> ≤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150: single trained PINN outperforms FEM with zero re-computation cost.</a:t>
            </a:r>
          </a:p>
        </p:txBody>
      </p:sp>
    </p:spTree>
    <p:extLst>
      <p:ext uri="{BB962C8B-B14F-4D97-AF65-F5344CB8AC3E}">
        <p14:creationId xmlns:p14="http://schemas.microsoft.com/office/powerpoint/2010/main" val="3289956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CB72-8389-522D-88D9-6715CFB1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L2 norm prediction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A5037-FDE0-79F3-25EB-C3F86592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3039" y="6244609"/>
            <a:ext cx="1112386" cy="365125"/>
          </a:xfrm>
        </p:spPr>
        <p:txBody>
          <a:bodyPr/>
          <a:lstStyle/>
          <a:p>
            <a:fld id="{15E16240-DAFD-6E4F-A14C-BEA7DF7B00E1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1E470D-F7C1-6705-DBC6-79C64E9A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74" y="2119502"/>
            <a:ext cx="5290669" cy="3704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46768B-5F72-54C8-6654-BF20489D28FB}"/>
              </a:ext>
            </a:extLst>
          </p:cNvPr>
          <p:cNvSpPr txBox="1"/>
          <p:nvPr/>
        </p:nvSpPr>
        <p:spPr>
          <a:xfrm>
            <a:off x="964956" y="1367354"/>
            <a:ext cx="4196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Our </a:t>
            </a:r>
            <a:r>
              <a:rPr lang="en-US" b="1" i="1">
                <a:solidFill>
                  <a:srgbClr val="000000"/>
                </a:solidFill>
                <a:latin typeface="Latin Modern Sans"/>
              </a:rPr>
              <a:t>L</a:t>
            </a:r>
            <a:r>
              <a:rPr lang="en-US" b="1">
                <a:solidFill>
                  <a:srgbClr val="000000"/>
                </a:solidFill>
                <a:latin typeface="Latin Modern Sans"/>
              </a:rPr>
              <a:t>2 error 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00192-CE78-143E-DE91-FFBECEA7C45E}"/>
              </a:ext>
            </a:extLst>
          </p:cNvPr>
          <p:cNvSpPr txBox="1"/>
          <p:nvPr/>
        </p:nvSpPr>
        <p:spPr>
          <a:xfrm>
            <a:off x="6726901" y="1358263"/>
            <a:ext cx="19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+mj-lt"/>
              </a:rPr>
              <a:t>Zhu et al </a:t>
            </a:r>
            <a:r>
              <a:rPr lang="en-US" i="1">
                <a:solidFill>
                  <a:srgbClr val="000000"/>
                </a:solidFill>
                <a:latin typeface="+mj-lt"/>
              </a:rPr>
              <a:t>L</a:t>
            </a:r>
            <a:r>
              <a:rPr lang="en-US">
                <a:solidFill>
                  <a:srgbClr val="000000"/>
                </a:solidFill>
                <a:latin typeface="+mj-lt"/>
              </a:rPr>
              <a:t>2 error </a:t>
            </a:r>
            <a:endParaRPr lang="en-US" b="1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E4173-20BF-7459-2B7D-527B8ECBE7C2}"/>
              </a:ext>
            </a:extLst>
          </p:cNvPr>
          <p:cNvSpPr txBox="1"/>
          <p:nvPr/>
        </p:nvSpPr>
        <p:spPr>
          <a:xfrm>
            <a:off x="609900" y="6088467"/>
            <a:ext cx="749775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000000"/>
                </a:solidFill>
                <a:latin typeface="Latin Modern Sans"/>
              </a:rPr>
              <a:t>Relative</a:t>
            </a:r>
            <a:r>
              <a:rPr b="0" i="1">
                <a:solidFill>
                  <a:srgbClr val="000000"/>
                </a:solidFill>
                <a:latin typeface="Latin Modern Sans"/>
              </a:rPr>
              <a:t> L</a:t>
            </a:r>
            <a:r>
              <a:rPr b="0" i="0">
                <a:solidFill>
                  <a:srgbClr val="000000"/>
                </a:solidFill>
                <a:latin typeface="Latin Modern Sans"/>
              </a:rPr>
              <a:t>2 error vs. spatial resolution</a:t>
            </a:r>
            <a:r>
              <a:rPr b="0" i="1">
                <a:solidFill>
                  <a:srgbClr val="000000"/>
                </a:solidFill>
                <a:latin typeface="Latin Modern Sans"/>
              </a:rPr>
              <a:t> </a:t>
            </a:r>
            <a:r>
              <a:rPr b="0" i="1" err="1">
                <a:solidFill>
                  <a:srgbClr val="000000"/>
                </a:solidFill>
                <a:latin typeface="Latin Modern Sans"/>
              </a:rPr>
              <a:t>Nx</a:t>
            </a:r>
            <a:r>
              <a:rPr b="0" i="1">
                <a:solidFill>
                  <a:srgbClr val="000000"/>
                </a:solidFill>
                <a:latin typeface="CMSY7"/>
              </a:rPr>
              <a:t> |</a:t>
            </a:r>
            <a:r>
              <a:rPr b="0" i="0">
                <a:solidFill>
                  <a:srgbClr val="000000"/>
                </a:solidFill>
                <a:latin typeface="Latin Modern Sans"/>
              </a:rPr>
              <a:t> Reference: </a:t>
            </a:r>
            <a:r>
              <a:rPr b="1" i="0">
                <a:solidFill>
                  <a:srgbClr val="000000"/>
                </a:solidFill>
                <a:latin typeface="Latin Modern Sans"/>
              </a:rPr>
              <a:t>fine FEM on 401</a:t>
            </a:r>
            <a:r>
              <a:rPr b="1" i="1">
                <a:solidFill>
                  <a:srgbClr val="000000"/>
                </a:solidFill>
                <a:latin typeface="CMSY7"/>
              </a:rPr>
              <a:t>×</a:t>
            </a:r>
            <a:r>
              <a:rPr b="1" i="0">
                <a:solidFill>
                  <a:srgbClr val="000000"/>
                </a:solidFill>
                <a:latin typeface="Latin Modern Sans"/>
              </a:rPr>
              <a:t>201 grid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214FF-6B8B-1D6D-00DF-21510004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2" y="2213276"/>
            <a:ext cx="4196130" cy="33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32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795C-AC3B-4343-F4FF-A805AAF0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80B-8294-8772-638D-59022C4B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19</a:t>
            </a:fld>
            <a:endParaRPr lang="en-US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06BEC52-C09D-9589-A364-B02A5FBCB8DA}"/>
              </a:ext>
            </a:extLst>
          </p:cNvPr>
          <p:cNvSpPr/>
          <p:nvPr/>
        </p:nvSpPr>
        <p:spPr>
          <a:xfrm>
            <a:off x="1434947" y="1753086"/>
            <a:ext cx="3730071" cy="2209465"/>
          </a:xfrm>
          <a:prstGeom prst="roundRect">
            <a:avLst>
              <a:gd name="adj" fmla="val 10000"/>
            </a:avLst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82769E9F-0CF5-DE79-E03A-A7C2AA670E8E}"/>
              </a:ext>
            </a:extLst>
          </p:cNvPr>
          <p:cNvSpPr/>
          <p:nvPr/>
        </p:nvSpPr>
        <p:spPr>
          <a:xfrm>
            <a:off x="1456371" y="1774514"/>
            <a:ext cx="3687223" cy="2166614"/>
          </a:xfrm>
          <a:prstGeom prst="roundRect">
            <a:avLst>
              <a:gd name="adj" fmla="val 10000"/>
            </a:avLst>
          </a:prstGeom>
          <a:solidFill>
            <a:srgbClr val="FD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8E752FF-C3C2-C68E-0DA6-5B354B8E8411}"/>
              </a:ext>
            </a:extLst>
          </p:cNvPr>
          <p:cNvSpPr/>
          <p:nvPr/>
        </p:nvSpPr>
        <p:spPr>
          <a:xfrm>
            <a:off x="6687987" y="1729527"/>
            <a:ext cx="3730071" cy="2221367"/>
          </a:xfrm>
          <a:prstGeom prst="roundRect">
            <a:avLst>
              <a:gd name="adj" fmla="val 10000"/>
            </a:avLst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8F3B9198-FC4E-1CD9-DA5A-4FA6AC1389F0}"/>
              </a:ext>
            </a:extLst>
          </p:cNvPr>
          <p:cNvSpPr/>
          <p:nvPr/>
        </p:nvSpPr>
        <p:spPr>
          <a:xfrm>
            <a:off x="6709412" y="1750951"/>
            <a:ext cx="3687225" cy="2178518"/>
          </a:xfrm>
          <a:prstGeom prst="roundRect">
            <a:avLst>
              <a:gd name="adj" fmla="val 10000"/>
            </a:avLst>
          </a:prstGeom>
          <a:solidFill>
            <a:srgbClr val="EB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97AA12D-4F80-611E-4644-31E2582B91C5}"/>
              </a:ext>
            </a:extLst>
          </p:cNvPr>
          <p:cNvSpPr/>
          <p:nvPr/>
        </p:nvSpPr>
        <p:spPr>
          <a:xfrm>
            <a:off x="268560" y="4697883"/>
            <a:ext cx="11656209" cy="1105795"/>
          </a:xfrm>
          <a:prstGeom prst="roundRect">
            <a:avLst>
              <a:gd name="adj" fmla="val 10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10DAF9B-4E84-DFBE-9095-AC71930BC16E}"/>
              </a:ext>
            </a:extLst>
          </p:cNvPr>
          <p:cNvSpPr/>
          <p:nvPr/>
        </p:nvSpPr>
        <p:spPr>
          <a:xfrm>
            <a:off x="289985" y="4719308"/>
            <a:ext cx="11613360" cy="1062946"/>
          </a:xfrm>
          <a:prstGeom prst="roundRect">
            <a:avLst>
              <a:gd name="adj" fmla="val 10000"/>
            </a:avLst>
          </a:prstGeom>
          <a:solidFill>
            <a:srgbClr val="E8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EFB82E-5671-1B20-3A33-73D820734879}"/>
              </a:ext>
            </a:extLst>
          </p:cNvPr>
          <p:cNvSpPr txBox="1"/>
          <p:nvPr/>
        </p:nvSpPr>
        <p:spPr>
          <a:xfrm>
            <a:off x="1612927" y="1908386"/>
            <a:ext cx="298331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Temperature profiles: PINN</a:t>
            </a:r>
            <a:r>
              <a:rPr sz="1687" i="1">
                <a:solidFill>
                  <a:srgbClr val="000000"/>
                </a:solidFill>
                <a:latin typeface="CMSY8"/>
              </a:rPr>
              <a:t> ≈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FEM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17357-6A50-6B2A-6C59-C494CF569F76}"/>
              </a:ext>
            </a:extLst>
          </p:cNvPr>
          <p:cNvSpPr txBox="1"/>
          <p:nvPr/>
        </p:nvSpPr>
        <p:spPr>
          <a:xfrm>
            <a:off x="1612927" y="2165563"/>
            <a:ext cx="838243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reference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9661C5-B839-ED49-2403-F6FE702D0968}"/>
              </a:ext>
            </a:extLst>
          </p:cNvPr>
          <p:cNvSpPr txBox="1"/>
          <p:nvPr/>
        </p:nvSpPr>
        <p:spPr>
          <a:xfrm>
            <a:off x="1612927" y="2465529"/>
            <a:ext cx="3118931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Interface tracking: matches analytic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064007-4D43-4172-E4F0-F1909CCDA928}"/>
              </a:ext>
            </a:extLst>
          </p:cNvPr>
          <p:cNvSpPr txBox="1"/>
          <p:nvPr/>
        </p:nvSpPr>
        <p:spPr>
          <a:xfrm>
            <a:off x="1612926" y="2684090"/>
            <a:ext cx="36708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s</a:t>
            </a:r>
            <a:r>
              <a:rPr sz="1264" i="1">
                <a:solidFill>
                  <a:srgbClr val="000000"/>
                </a:solidFill>
                <a:latin typeface="CMSY6"/>
              </a:rPr>
              <a:t>∗</a:t>
            </a:r>
            <a:r>
              <a:rPr sz="1687">
                <a:solidFill>
                  <a:srgbClr val="000000"/>
                </a:solidFill>
                <a:latin typeface="Latin Modern Sans"/>
              </a:rPr>
              <a:t>(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t</a:t>
            </a:r>
            <a:r>
              <a:rPr sz="1687">
                <a:solidFill>
                  <a:srgbClr val="000000"/>
                </a:solidFill>
                <a:latin typeface="Latin Modern Sans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98276-0A3D-B277-E750-DDB58A1CE75D}"/>
              </a:ext>
            </a:extLst>
          </p:cNvPr>
          <p:cNvSpPr txBox="1"/>
          <p:nvPr/>
        </p:nvSpPr>
        <p:spPr>
          <a:xfrm>
            <a:off x="1612927" y="3017090"/>
            <a:ext cx="2922660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i="1">
                <a:solidFill>
                  <a:srgbClr val="000000"/>
                </a:solidFill>
                <a:latin typeface="Latin Modern Sans"/>
              </a:rPr>
              <a:t>L</a:t>
            </a:r>
            <a:r>
              <a:rPr sz="1264">
                <a:solidFill>
                  <a:srgbClr val="000000"/>
                </a:solidFill>
                <a:latin typeface="Latin Modern Sans"/>
              </a:rPr>
              <a:t>2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study: FEM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 &gt;</a:t>
            </a:r>
            <a:r>
              <a:rPr sz="1687">
                <a:solidFill>
                  <a:srgbClr val="000000"/>
                </a:solidFill>
                <a:latin typeface="Latin Modern Sans"/>
              </a:rPr>
              <a:t> PINN at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</a:t>
            </a:r>
            <a:r>
              <a:rPr sz="1687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sz="1264" i="1" err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687" i="1">
                <a:solidFill>
                  <a:srgbClr val="000000"/>
                </a:solidFill>
                <a:latin typeface="CMSY8"/>
              </a:rPr>
              <a:t> ≤</a:t>
            </a:r>
            <a:r>
              <a:rPr lang="en-US" sz="1687" i="1">
                <a:solidFill>
                  <a:srgbClr val="000000"/>
                </a:solidFill>
                <a:latin typeface="CMSY8"/>
              </a:rPr>
              <a:t> 150</a:t>
            </a:r>
            <a:endParaRPr sz="1687" i="1">
              <a:solidFill>
                <a:srgbClr val="000000"/>
              </a:solidFill>
              <a:latin typeface="CMSY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2F5EB-65E5-8047-CCBE-A56A8AF8770F}"/>
              </a:ext>
            </a:extLst>
          </p:cNvPr>
          <p:cNvSpPr txBox="1"/>
          <p:nvPr/>
        </p:nvSpPr>
        <p:spPr>
          <a:xfrm>
            <a:off x="1612926" y="3416468"/>
            <a:ext cx="183242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>
                <a:solidFill>
                  <a:srgbClr val="000000"/>
                </a:solidFill>
                <a:latin typeface="Latin Modern Sans"/>
              </a:rPr>
              <a:t>Matches paper Fig.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EC26C4-B284-E09F-3BC8-8007A9B3C784}"/>
              </a:ext>
            </a:extLst>
          </p:cNvPr>
          <p:cNvSpPr txBox="1"/>
          <p:nvPr/>
        </p:nvSpPr>
        <p:spPr>
          <a:xfrm>
            <a:off x="6865965" y="1899504"/>
            <a:ext cx="2809167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7" b="1">
                <a:solidFill>
                  <a:srgbClr val="000000"/>
                </a:solidFill>
                <a:latin typeface="Latin Modern Sans"/>
              </a:rPr>
              <a:t>Mesh-free</a:t>
            </a:r>
            <a:r>
              <a:rPr sz="1687">
                <a:solidFill>
                  <a:srgbClr val="000000"/>
                </a:solidFill>
                <a:latin typeface="Latin Modern Sans"/>
              </a:rPr>
              <a:t>: evaluate at any (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x</a:t>
            </a:r>
            <a:r>
              <a:rPr sz="1687" i="1">
                <a:solidFill>
                  <a:srgbClr val="000000"/>
                </a:solidFill>
                <a:latin typeface="Cambria Math"/>
              </a:rPr>
              <a:t>,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687">
                <a:solidFill>
                  <a:srgbClr val="000000"/>
                </a:solidFill>
                <a:latin typeface="Latin Modern Sans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133D6C-38A0-AD8D-DFA3-A7200CD872FC}"/>
              </a:ext>
            </a:extLst>
          </p:cNvPr>
          <p:cNvSpPr txBox="1"/>
          <p:nvPr/>
        </p:nvSpPr>
        <p:spPr>
          <a:xfrm>
            <a:off x="6794876" y="2213231"/>
            <a:ext cx="3576428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87" b="1">
                <a:solidFill>
                  <a:srgbClr val="000000"/>
                </a:solidFill>
                <a:latin typeface="Latin Modern Sans"/>
              </a:rPr>
              <a:t>Resolution-independent</a:t>
            </a:r>
            <a:r>
              <a:rPr sz="1687">
                <a:solidFill>
                  <a:srgbClr val="000000"/>
                </a:solidFill>
                <a:latin typeface="Latin Modern Sans"/>
              </a:rPr>
              <a:t>: one net</a:t>
            </a:r>
            <a:r>
              <a:rPr sz="1687" i="1">
                <a:solidFill>
                  <a:srgbClr val="000000"/>
                </a:solidFill>
                <a:latin typeface="CMSY8"/>
              </a:rPr>
              <a:t> ≡</a:t>
            </a:r>
            <a:r>
              <a:rPr lang="en-US" sz="1687">
                <a:solidFill>
                  <a:srgbClr val="000000"/>
                </a:solidFill>
                <a:latin typeface="Latin Modern Sans"/>
              </a:rPr>
              <a:t>all</a:t>
            </a:r>
            <a:r>
              <a:rPr lang="en-US" sz="1687" i="1">
                <a:solidFill>
                  <a:srgbClr val="000000"/>
                </a:solidFill>
                <a:latin typeface="Latin Modern Sans"/>
              </a:rPr>
              <a:t> </a:t>
            </a:r>
            <a:r>
              <a:rPr lang="en-US" sz="1687" i="1" err="1">
                <a:solidFill>
                  <a:srgbClr val="000000"/>
                </a:solidFill>
                <a:latin typeface="Latin Modern Sans"/>
              </a:rPr>
              <a:t>N</a:t>
            </a:r>
            <a:r>
              <a:rPr lang="en-US" sz="1264" i="1" err="1">
                <a:solidFill>
                  <a:srgbClr val="000000"/>
                </a:solidFill>
                <a:latin typeface="Latin Modern Sans"/>
              </a:rPr>
              <a:t>x</a:t>
            </a:r>
            <a:endParaRPr lang="en-US" sz="1264" i="1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143E30-C9A8-D70C-7A2A-4CEE178A4405}"/>
              </a:ext>
            </a:extLst>
          </p:cNvPr>
          <p:cNvSpPr txBox="1"/>
          <p:nvPr/>
        </p:nvSpPr>
        <p:spPr>
          <a:xfrm>
            <a:off x="6865966" y="2753806"/>
            <a:ext cx="3221395" cy="2596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dirty="0">
                <a:solidFill>
                  <a:srgbClr val="000000"/>
                </a:solidFill>
                <a:latin typeface="Latin Modern Sans"/>
              </a:rPr>
              <a:t>Physics-constrained</a:t>
            </a:r>
            <a:r>
              <a:rPr sz="1650" dirty="0">
                <a:solidFill>
                  <a:srgbClr val="000000"/>
                </a:solidFill>
                <a:latin typeface="Latin Modern Sans"/>
              </a:rPr>
              <a:t>: PDE embe</a:t>
            </a:r>
            <a:r>
              <a:rPr lang="en-US" sz="1650">
                <a:solidFill>
                  <a:srgbClr val="000000"/>
                </a:solidFill>
                <a:latin typeface="Latin Modern Sans"/>
              </a:rPr>
              <a:t>dded</a:t>
            </a:r>
            <a:endParaRPr sz="1687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359C17-3D82-2D88-4F27-247B281F3B40}"/>
              </a:ext>
            </a:extLst>
          </p:cNvPr>
          <p:cNvSpPr txBox="1"/>
          <p:nvPr/>
        </p:nvSpPr>
        <p:spPr>
          <a:xfrm>
            <a:off x="6865967" y="3299458"/>
            <a:ext cx="328263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87" b="1">
                <a:solidFill>
                  <a:srgbClr val="000000"/>
                </a:solidFill>
                <a:latin typeface="Latin Modern Sans"/>
              </a:rPr>
              <a:t>Data-efficient</a:t>
            </a:r>
            <a:r>
              <a:rPr sz="1687">
                <a:solidFill>
                  <a:srgbClr val="000000"/>
                </a:solidFill>
                <a:latin typeface="Latin Modern Sans"/>
              </a:rPr>
              <a:t>: IC from FEM at</a:t>
            </a:r>
            <a:r>
              <a:rPr sz="1687" i="1">
                <a:solidFill>
                  <a:srgbClr val="000000"/>
                </a:solidFill>
                <a:latin typeface="Latin Modern Sans"/>
              </a:rPr>
              <a:t> t</a:t>
            </a:r>
            <a:r>
              <a:rPr sz="1264">
                <a:solidFill>
                  <a:srgbClr val="000000"/>
                </a:solidFill>
                <a:latin typeface="Latin Modern Sans"/>
              </a:rPr>
              <a:t>0</a:t>
            </a:r>
            <a:r>
              <a:rPr lang="en-US" sz="1264">
                <a:solidFill>
                  <a:srgbClr val="000000"/>
                </a:solidFill>
                <a:latin typeface="Latin Modern Sans"/>
              </a:rPr>
              <a:t> </a:t>
            </a:r>
            <a:r>
              <a:rPr lang="en-US">
                <a:solidFill>
                  <a:srgbClr val="000000"/>
                </a:solidFill>
                <a:latin typeface="Latin Modern Sans"/>
              </a:rPr>
              <a:t>only</a:t>
            </a:r>
            <a:endParaRPr sz="1264">
              <a:solidFill>
                <a:srgbClr val="000000"/>
              </a:solidFill>
              <a:latin typeface="Latin Modern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AE213A-5ECF-C28D-A48D-DB387F5D3C38}"/>
              </a:ext>
            </a:extLst>
          </p:cNvPr>
          <p:cNvSpPr txBox="1"/>
          <p:nvPr/>
        </p:nvSpPr>
        <p:spPr>
          <a:xfrm>
            <a:off x="429122" y="4927853"/>
            <a:ext cx="11166262" cy="5834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896" b="1">
                <a:solidFill>
                  <a:srgbClr val="000000"/>
                </a:solidFill>
                <a:latin typeface="Latin Modern Sans"/>
              </a:rPr>
              <a:t>S</a:t>
            </a:r>
            <a:r>
              <a:rPr sz="1896" b="1">
                <a:solidFill>
                  <a:srgbClr val="000000"/>
                </a:solidFill>
                <a:latin typeface="Latin Modern Sans"/>
              </a:rPr>
              <a:t>ummary:</a:t>
            </a:r>
            <a:r>
              <a:rPr sz="1896">
                <a:solidFill>
                  <a:srgbClr val="000000"/>
                </a:solidFill>
                <a:latin typeface="Latin Modern Sans"/>
              </a:rPr>
              <a:t> PINN trained on the 1D Stefan problem achieves accuracy comparable to a fine</a:t>
            </a:r>
            <a:r>
              <a:rPr lang="en-US" sz="1896">
                <a:solidFill>
                  <a:srgbClr val="000000"/>
                </a:solidFill>
                <a:latin typeface="Latin Modern Sans"/>
              </a:rPr>
              <a:t> FEM solution, However </a:t>
            </a:r>
          </a:p>
          <a:p>
            <a:r>
              <a:rPr lang="en-US" sz="1896">
                <a:solidFill>
                  <a:srgbClr val="000000"/>
                </a:solidFill>
                <a:latin typeface="Latin Modern Sans"/>
              </a:rPr>
              <a:t>while remaining mesh-free</a:t>
            </a:r>
          </a:p>
        </p:txBody>
      </p:sp>
    </p:spTree>
    <p:extLst>
      <p:ext uri="{BB962C8B-B14F-4D97-AF65-F5344CB8AC3E}">
        <p14:creationId xmlns:p14="http://schemas.microsoft.com/office/powerpoint/2010/main" val="4176694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120D-9333-DB32-CD1A-D5A799A3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Weaknesses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4D0C3-E015-88C8-2E33-DB4A2B31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B2042-9B4C-DC8F-BF6F-2EB18EF57821}"/>
              </a:ext>
            </a:extLst>
          </p:cNvPr>
          <p:cNvSpPr txBox="1"/>
          <p:nvPr/>
        </p:nvSpPr>
        <p:spPr>
          <a:xfrm>
            <a:off x="6421836" y="1390676"/>
            <a:ext cx="1366913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9B7AB-EB0B-3692-3200-EAB743486C8B}"/>
              </a:ext>
            </a:extLst>
          </p:cNvPr>
          <p:cNvSpPr txBox="1"/>
          <p:nvPr/>
        </p:nvSpPr>
        <p:spPr>
          <a:xfrm>
            <a:off x="6702730" y="3379777"/>
            <a:ext cx="4277646" cy="6487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Uncertainty quantification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— Bayesian</a:t>
            </a:r>
            <a:endParaRPr lang="en-US" sz="2108">
              <a:solidFill>
                <a:srgbClr val="000000"/>
              </a:solidFill>
              <a:latin typeface="Latin Modern Sans"/>
            </a:endParaRPr>
          </a:p>
          <a:p>
            <a:r>
              <a:rPr lang="en-US" sz="2108">
                <a:solidFill>
                  <a:srgbClr val="000000"/>
                </a:solidFill>
                <a:latin typeface="Latin Modern Sans"/>
              </a:rPr>
              <a:t>PINN or ensembles.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75FF0-156B-9EB8-9628-5BB978FA3F98}"/>
              </a:ext>
            </a:extLst>
          </p:cNvPr>
          <p:cNvSpPr txBox="1"/>
          <p:nvPr/>
        </p:nvSpPr>
        <p:spPr>
          <a:xfrm>
            <a:off x="6698952" y="4420039"/>
            <a:ext cx="4312847" cy="6487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Real AM integration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— laser boundary</a:t>
            </a:r>
            <a:r>
              <a:rPr lang="en-US" sz="2108">
                <a:solidFill>
                  <a:srgbClr val="000000"/>
                </a:solidFill>
                <a:latin typeface="Latin Modern Sans"/>
              </a:rPr>
              <a:t> </a:t>
            </a:r>
          </a:p>
          <a:p>
            <a:r>
              <a:rPr lang="en-US" sz="2108">
                <a:solidFill>
                  <a:srgbClr val="000000"/>
                </a:solidFill>
                <a:latin typeface="Latin Modern Sans"/>
              </a:rPr>
              <a:t>source, 3D multi-layer deposits.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07EA0-7764-92A2-0EDA-19B995DA2FB6}"/>
              </a:ext>
            </a:extLst>
          </p:cNvPr>
          <p:cNvSpPr txBox="1"/>
          <p:nvPr/>
        </p:nvSpPr>
        <p:spPr>
          <a:xfrm>
            <a:off x="6702730" y="2289068"/>
            <a:ext cx="4589398" cy="6487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2D extension</a:t>
            </a:r>
            <a:r>
              <a:rPr sz="2108">
                <a:solidFill>
                  <a:srgbClr val="000000"/>
                </a:solidFill>
                <a:latin typeface="Latin Modern Sans"/>
              </a:rPr>
              <a:t> — PINN advantage grows as</a:t>
            </a:r>
            <a:endParaRPr lang="en-US" sz="2108">
              <a:solidFill>
                <a:srgbClr val="000000"/>
              </a:solidFill>
              <a:latin typeface="Latin Modern Sans"/>
            </a:endParaRPr>
          </a:p>
          <a:p>
            <a:r>
              <a:rPr lang="en-US" sz="2108">
                <a:solidFill>
                  <a:srgbClr val="000000"/>
                </a:solidFill>
                <a:latin typeface="Latin Modern Sans"/>
              </a:rPr>
              <a:t>FEM cost scales</a:t>
            </a:r>
            <a:r>
              <a:rPr lang="en-US" sz="2108" i="1">
                <a:solidFill>
                  <a:srgbClr val="000000"/>
                </a:solidFill>
                <a:latin typeface="CMSY10"/>
              </a:rPr>
              <a:t> ∼</a:t>
            </a:r>
            <a:r>
              <a:rPr lang="en-US" sz="2108" i="1">
                <a:solidFill>
                  <a:srgbClr val="000000"/>
                </a:solidFill>
                <a:latin typeface="Latin Modern Sans"/>
              </a:rPr>
              <a:t> N</a:t>
            </a:r>
            <a:r>
              <a:rPr lang="en-US" sz="1475">
                <a:solidFill>
                  <a:srgbClr val="000000"/>
                </a:solidFill>
                <a:latin typeface="Latin Modern Sans"/>
              </a:rPr>
              <a:t>2</a:t>
            </a:r>
            <a:r>
              <a:rPr lang="en-US" sz="2108">
                <a:solidFill>
                  <a:srgbClr val="000000"/>
                </a:solidFill>
                <a:latin typeface="Latin Modern San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B2608-3D92-ECA0-11F9-FDC46888CE2C}"/>
              </a:ext>
            </a:extLst>
          </p:cNvPr>
          <p:cNvSpPr txBox="1"/>
          <p:nvPr/>
        </p:nvSpPr>
        <p:spPr>
          <a:xfrm>
            <a:off x="660059" y="1390676"/>
            <a:ext cx="2409890" cy="324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8" b="1">
                <a:solidFill>
                  <a:srgbClr val="000000"/>
                </a:solidFill>
                <a:latin typeface="Latin Modern Sans"/>
              </a:rPr>
              <a:t>Potential weaknesses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BBBBE-963C-CBC7-129F-1FB98BAEC603}"/>
              </a:ext>
            </a:extLst>
          </p:cNvPr>
          <p:cNvSpPr txBox="1"/>
          <p:nvPr/>
        </p:nvSpPr>
        <p:spPr>
          <a:xfrm>
            <a:off x="410845" y="2340248"/>
            <a:ext cx="5523948" cy="5539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+mj-lt"/>
              </a:rPr>
              <a:t>. </a:t>
            </a:r>
            <a:r>
              <a:rPr b="0" i="0">
                <a:solidFill>
                  <a:srgbClr val="000000"/>
                </a:solidFill>
                <a:latin typeface="+mj-lt"/>
              </a:rPr>
              <a:t>IC relies on a FEM reference at</a:t>
            </a:r>
            <a:r>
              <a:rPr lang="en-US" i="1">
                <a:solidFill>
                  <a:srgbClr val="000000"/>
                </a:solidFill>
                <a:latin typeface="+mj-lt"/>
              </a:rPr>
              <a:t> t_0</a:t>
            </a:r>
            <a:r>
              <a:rPr b="0" i="0">
                <a:solidFill>
                  <a:srgbClr val="000000"/>
                </a:solidFill>
                <a:latin typeface="+mj-lt"/>
              </a:rPr>
              <a:t> — not</a:t>
            </a:r>
            <a:r>
              <a:rPr lang="en-US">
                <a:solidFill>
                  <a:srgbClr val="000000"/>
                </a:solidFill>
                <a:latin typeface="+mj-lt"/>
              </a:rPr>
              <a:t> fully data-free</a:t>
            </a:r>
          </a:p>
          <a:p>
            <a:endParaRPr lang="en-US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E9B1E-EB87-2B1F-D945-666A752E3338}"/>
              </a:ext>
            </a:extLst>
          </p:cNvPr>
          <p:cNvSpPr txBox="1"/>
          <p:nvPr/>
        </p:nvSpPr>
        <p:spPr>
          <a:xfrm>
            <a:off x="410845" y="3567536"/>
            <a:ext cx="388516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. Only 1 dimension is taken into account</a:t>
            </a:r>
          </a:p>
        </p:txBody>
      </p:sp>
    </p:spTree>
    <p:extLst>
      <p:ext uri="{BB962C8B-B14F-4D97-AF65-F5344CB8AC3E}">
        <p14:creationId xmlns:p14="http://schemas.microsoft.com/office/powerpoint/2010/main" val="118673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5B8E-0F4A-7F1B-6FC4-B973A54E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558B-CA74-F7D6-EB4E-4EF89043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0AD5-B62F-A7BC-2C02-059EA109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6240-DAFD-6E4F-A14C-BEA7DF7B00E1}" type="slidenum">
              <a:rPr lang="en-US" smtClean="0"/>
              <a:t>21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0BA37-2F20-13BB-FB93-84CC2FD06BD9}"/>
              </a:ext>
            </a:extLst>
          </p:cNvPr>
          <p:cNvSpPr txBox="1"/>
          <p:nvPr/>
        </p:nvSpPr>
        <p:spPr>
          <a:xfrm>
            <a:off x="655320" y="1268084"/>
            <a:ext cx="10698480" cy="3762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rgbClr val="000000"/>
                </a:solidFill>
              </a:rPr>
              <a:t>[1] </a:t>
            </a:r>
            <a:r>
              <a:rPr sz="1600" dirty="0">
                <a:solidFill>
                  <a:srgbClr val="2D2D2D"/>
                </a:solidFill>
              </a:rPr>
              <a:t>Q. Zhu, Z. Liu, J. Yan, "Machine learning for metal additive manufacturing: predicting temperature and melt pool fluid </a:t>
            </a:r>
            <a:r>
              <a:rPr lang="en-US" sz="1600" dirty="0">
                <a:solidFill>
                  <a:srgbClr val="2D2D2D"/>
                </a:solidFill>
              </a:rPr>
              <a:t>  </a:t>
            </a:r>
            <a:r>
              <a:rPr sz="1600" dirty="0">
                <a:solidFill>
                  <a:srgbClr val="2D2D2D"/>
                </a:solidFill>
              </a:rPr>
              <a:t>dynamics using </a:t>
            </a:r>
            <a:r>
              <a:rPr lang="en-US" sz="1600" dirty="0">
                <a:solidFill>
                  <a:srgbClr val="2D2D2D"/>
                </a:solidFill>
              </a:rPr>
              <a:t>     </a:t>
            </a:r>
            <a:r>
              <a:rPr sz="1600" dirty="0">
                <a:solidFill>
                  <a:srgbClr val="2D2D2D"/>
                </a:solidFill>
              </a:rPr>
              <a:t>physics-informed neural networks," Computational Mechanics 67(2): 619-635, 2021. DOI: https://doi.org/10.1007/s00466-020-01952-9</a:t>
            </a:r>
            <a:endParaRPr lang="en-US" sz="1600" dirty="0">
              <a:solidFill>
                <a:srgbClr val="2D2D2D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000000"/>
                </a:solidFill>
              </a:rPr>
              <a:t>[2] </a:t>
            </a:r>
            <a:r>
              <a:rPr lang="en-US" sz="1600" dirty="0">
                <a:solidFill>
                  <a:srgbClr val="2D2D2D"/>
                </a:solidFill>
              </a:rPr>
              <a:t>M. Raissi, P. </a:t>
            </a:r>
            <a:r>
              <a:rPr lang="en-US" sz="1600" dirty="0" err="1">
                <a:solidFill>
                  <a:srgbClr val="2D2D2D"/>
                </a:solidFill>
              </a:rPr>
              <a:t>Perdikaris</a:t>
            </a:r>
            <a:r>
              <a:rPr lang="en-US" sz="1600" dirty="0">
                <a:solidFill>
                  <a:srgbClr val="2D2D2D"/>
                </a:solidFill>
              </a:rPr>
              <a:t>, G. E. </a:t>
            </a:r>
            <a:r>
              <a:rPr lang="en-US" sz="1600" dirty="0" err="1">
                <a:solidFill>
                  <a:srgbClr val="2D2D2D"/>
                </a:solidFill>
              </a:rPr>
              <a:t>Karniadakis</a:t>
            </a:r>
            <a:r>
              <a:rPr lang="en-US" sz="1600" dirty="0">
                <a:solidFill>
                  <a:srgbClr val="2D2D2D"/>
                </a:solidFill>
              </a:rPr>
              <a:t>, "Physics-informed neural networks: a deep learning framework for solving forward and inverse problems involving nonlinear partial differential equations," Journal of Computational Physics 378: 686-707, 2019. DOI: https://doi.org/10.1016/j.jcp.2018.10.045</a:t>
            </a: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000000"/>
                </a:solidFill>
              </a:rPr>
              <a:t>[3] </a:t>
            </a:r>
            <a:r>
              <a:rPr lang="en-US" sz="1600" dirty="0">
                <a:solidFill>
                  <a:srgbClr val="2D2D2D"/>
                </a:solidFill>
              </a:rPr>
              <a:t>S. Wang, Y. Teng, P. </a:t>
            </a:r>
            <a:r>
              <a:rPr lang="en-US" sz="1600" dirty="0" err="1">
                <a:solidFill>
                  <a:srgbClr val="2D2D2D"/>
                </a:solidFill>
              </a:rPr>
              <a:t>Perdikaris</a:t>
            </a:r>
            <a:r>
              <a:rPr lang="en-US" sz="1600" dirty="0">
                <a:solidFill>
                  <a:srgbClr val="2D2D2D"/>
                </a:solidFill>
              </a:rPr>
              <a:t>, "Understanding and mitigating gradient flow pathologies in physics-informed neural networks," SIAM Journal on Scientific Computing 43(5): A3055-A3081, 2021. DOI: https://doi.org/10.1137/20M1318043</a:t>
            </a: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000000"/>
                </a:solidFill>
              </a:rPr>
              <a:t>[4] </a:t>
            </a:r>
            <a:r>
              <a:rPr lang="en-US" sz="1600" dirty="0">
                <a:solidFill>
                  <a:srgbClr val="2D2D2D"/>
                </a:solidFill>
              </a:rPr>
              <a:t>S. Liao, T. Xue, J. Jeong, S. Webster, K. Ehmann, J. Cao, "Hybrid thermal modeling of additive manufacturing processes using physics-informed neural networks for temperature prediction and parameter identification," Computational Mechanics 72(3): 499-512, 2023. DOI: https://doi.org/10.1007/s00466-022-02257-9</a:t>
            </a: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000000"/>
                </a:solidFill>
              </a:rPr>
              <a:t>[5] </a:t>
            </a:r>
            <a:r>
              <a:rPr lang="en-US" sz="1600" dirty="0">
                <a:solidFill>
                  <a:srgbClr val="2D2D2D"/>
                </a:solidFill>
              </a:rPr>
              <a:t>L. D. McClenny, U. M. Braga-Neto, "Self-Adaptive Physics-Informed Neural Networks using a Soft Attention Mechanism," </a:t>
            </a:r>
            <a:r>
              <a:rPr lang="en-US" sz="1600" dirty="0" err="1">
                <a:solidFill>
                  <a:srgbClr val="2D2D2D"/>
                </a:solidFill>
              </a:rPr>
              <a:t>arXiv</a:t>
            </a:r>
            <a:r>
              <a:rPr lang="en-US" sz="1600" dirty="0">
                <a:solidFill>
                  <a:srgbClr val="2D2D2D"/>
                </a:solidFill>
              </a:rPr>
              <a:t>, 2020. DOI: https://doi.org/10.48550/arXiv.2009.04544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951369B-5D3E-F174-FDD3-E5EB96709249}"/>
              </a:ext>
            </a:extLst>
          </p:cNvPr>
          <p:cNvSpPr/>
          <p:nvPr/>
        </p:nvSpPr>
        <p:spPr>
          <a:xfrm>
            <a:off x="2016978" y="5277363"/>
            <a:ext cx="8159310" cy="720151"/>
          </a:xfrm>
          <a:prstGeom prst="roundRect">
            <a:avLst>
              <a:gd name="adj" fmla="val 10000"/>
            </a:avLst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C78CEB01-B391-0E1E-B12A-0BBCE1974FDA}"/>
              </a:ext>
            </a:extLst>
          </p:cNvPr>
          <p:cNvSpPr/>
          <p:nvPr/>
        </p:nvSpPr>
        <p:spPr>
          <a:xfrm>
            <a:off x="2049114" y="5309501"/>
            <a:ext cx="8095037" cy="655876"/>
          </a:xfrm>
          <a:prstGeom prst="roundRect">
            <a:avLst>
              <a:gd name="adj" fmla="val 10000"/>
            </a:avLst>
          </a:prstGeom>
          <a:solidFill>
            <a:srgbClr val="FE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81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E00D0-CF2E-8BBC-7373-2CEDF546E6D8}"/>
              </a:ext>
            </a:extLst>
          </p:cNvPr>
          <p:cNvSpPr txBox="1"/>
          <p:nvPr/>
        </p:nvSpPr>
        <p:spPr>
          <a:xfrm>
            <a:off x="3842141" y="5430337"/>
            <a:ext cx="4013406" cy="46705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35" b="1">
                <a:solidFill>
                  <a:srgbClr val="000000"/>
                </a:solidFill>
                <a:latin typeface="Latin Modern Sans"/>
              </a:rPr>
              <a:t>Thank you — Questions?</a:t>
            </a:r>
          </a:p>
        </p:txBody>
      </p:sp>
    </p:spTree>
    <p:extLst>
      <p:ext uri="{BB962C8B-B14F-4D97-AF65-F5344CB8AC3E}">
        <p14:creationId xmlns:p14="http://schemas.microsoft.com/office/powerpoint/2010/main" val="51362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F - Davis Research Group" id="{26C8D635-7DEB-EE48-9D05-7240CA4360AF}" vid="{65106F81-BA23-BF4E-88C1-CC60236DA6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F536EEDF3C1943B10539B2FF864507" ma:contentTypeVersion="21" ma:contentTypeDescription="Create a new document." ma:contentTypeScope="" ma:versionID="aa0ef322bc6aee870ebc7d793dfd47e0">
  <xsd:schema xmlns:xsd="http://www.w3.org/2001/XMLSchema" xmlns:xs="http://www.w3.org/2001/XMLSchema" xmlns:p="http://schemas.microsoft.com/office/2006/metadata/properties" xmlns:ns1="http://schemas.microsoft.com/sharepoint/v3" xmlns:ns2="f8c9123e-62f0-43f6-b853-9844d7244a74" xmlns:ns3="f63b83a9-cb86-4c61-935b-542f3d6f12aa" targetNamespace="http://schemas.microsoft.com/office/2006/metadata/properties" ma:root="true" ma:fieldsID="d07122100d3438b3485e3b45656bfe29" ns1:_="" ns2:_="" ns3:_="">
    <xsd:import namespace="http://schemas.microsoft.com/sharepoint/v3"/>
    <xsd:import namespace="f8c9123e-62f0-43f6-b853-9844d7244a74"/>
    <xsd:import namespace="f63b83a9-cb86-4c61-935b-542f3d6f12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c9123e-62f0-43f6-b853-9844d7244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d757968-b5e0-43bf-af52-13bc706514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b83a9-cb86-4c61-935b-542f3d6f12a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c98eb78-b04a-44d2-9d1e-6406a1b663da}" ma:internalName="TaxCatchAll" ma:showField="CatchAllData" ma:web="f63b83a9-cb86-4c61-935b-542f3d6f12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f8c9123e-62f0-43f6-b853-9844d7244a74">
      <Terms xmlns="http://schemas.microsoft.com/office/infopath/2007/PartnerControls"/>
    </lcf76f155ced4ddcb4097134ff3c332f>
    <TaxCatchAll xmlns="f63b83a9-cb86-4c61-935b-542f3d6f12aa" xsi:nil="true"/>
    <SharedWithUsers xmlns="f63b83a9-cb86-4c61-935b-542f3d6f12aa">
      <UserInfo>
        <DisplayName>Dylan Colvin</DisplayName>
        <AccountId>84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BB6E2B4-021F-4A88-8305-8E931CB72304}">
  <ds:schemaRefs>
    <ds:schemaRef ds:uri="f63b83a9-cb86-4c61-935b-542f3d6f12aa"/>
    <ds:schemaRef ds:uri="f8c9123e-62f0-43f6-b853-9844d7244a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C6E60A2-8113-4017-8CA3-67E1BBA72F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807ABB-E766-4B9B-840F-5E8E0D3CCA52}">
  <ds:schemaRefs>
    <ds:schemaRef ds:uri="f63b83a9-cb86-4c61-935b-542f3d6f12aa"/>
    <ds:schemaRef ds:uri="f8c9123e-62f0-43f6-b853-9844d7244a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1803</Words>
  <Application>Microsoft Office PowerPoint</Application>
  <PresentationFormat>Widescreen</PresentationFormat>
  <Paragraphs>325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40" baseType="lpstr">
      <vt:lpstr>Arial</vt:lpstr>
      <vt:lpstr>Calibri</vt:lpstr>
      <vt:lpstr>Cambria Math</vt:lpstr>
      <vt:lpstr>CMMI8</vt:lpstr>
      <vt:lpstr>CMR8</vt:lpstr>
      <vt:lpstr>CMSY10</vt:lpstr>
      <vt:lpstr>CMSY6</vt:lpstr>
      <vt:lpstr>CMSY7</vt:lpstr>
      <vt:lpstr>CMSY8</vt:lpstr>
      <vt:lpstr>CMSY9</vt:lpstr>
      <vt:lpstr>Franklin Gothic Book</vt:lpstr>
      <vt:lpstr>Franklin Gothic Demi</vt:lpstr>
      <vt:lpstr>Franklin Gothic Medium (Headings)</vt:lpstr>
      <vt:lpstr>FranklinGothic-Book</vt:lpstr>
      <vt:lpstr>FranklinGothic-BookItalic</vt:lpstr>
      <vt:lpstr>FranklinGothic-Demi</vt:lpstr>
      <vt:lpstr>Latin Modern Sans</vt:lpstr>
      <vt:lpstr>Office Theme</vt:lpstr>
      <vt:lpstr>PowerPoint Presentation</vt:lpstr>
      <vt:lpstr>Background</vt:lpstr>
      <vt:lpstr>Research Gap and Questions</vt:lpstr>
      <vt:lpstr>Project Objective</vt:lpstr>
      <vt:lpstr>Related Work — PINNs and AM Thermal Modelling</vt:lpstr>
      <vt:lpstr>PowerPoint Presentation</vt:lpstr>
      <vt:lpstr>Governing Equation</vt:lpstr>
      <vt:lpstr>PowerPoint Presentation</vt:lpstr>
      <vt:lpstr>PowerPoint Presentation</vt:lpstr>
      <vt:lpstr>PowerPoint Presentation</vt:lpstr>
      <vt:lpstr>PowerPoint Presentation</vt:lpstr>
      <vt:lpstr>Training Data &amp; PINN Prediction Field </vt:lpstr>
      <vt:lpstr>Geometry and Prediction</vt:lpstr>
      <vt:lpstr>Training Loss comparison</vt:lpstr>
      <vt:lpstr>Temperature prediction comparison</vt:lpstr>
      <vt:lpstr>Solid--Liquid Interface Tracking- PINN comparison</vt:lpstr>
      <vt:lpstr>FEM mesh study comparison</vt:lpstr>
      <vt:lpstr>Results — L2 Resolution Study</vt:lpstr>
      <vt:lpstr>L2 norm prediction error</vt:lpstr>
      <vt:lpstr>Conclusion</vt:lpstr>
      <vt:lpstr>Weaknesses &amp;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Silicon Photovoltaics New Materials, Manufacturing Processes and Characterization Techniques</dc:title>
  <dc:creator>Kristopher Davis</dc:creator>
  <cp:lastModifiedBy>Goutam Kumar Biswas</cp:lastModifiedBy>
  <cp:revision>20</cp:revision>
  <cp:lastPrinted>2019-03-11T05:47:02Z</cp:lastPrinted>
  <dcterms:created xsi:type="dcterms:W3CDTF">2018-07-18T01:32:09Z</dcterms:created>
  <dcterms:modified xsi:type="dcterms:W3CDTF">2026-04-24T14:21:20Z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0x0101008AF536EEDF3C1943B10539B2FF864507</vt:lpwstr>
  </property>
  <property fmtid="{D5CDD505-2E9C-101B-9397-08002B2CF9AE}" pid="3" name="MediaServiceImageTags">
    <vt:lpwstr/>
  </property>
</Properties>
</file>